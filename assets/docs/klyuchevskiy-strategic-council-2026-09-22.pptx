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9" r:id="rId2"/>
    <p:sldId id="266" r:id="rId3"/>
    <p:sldId id="256" r:id="rId4"/>
    <p:sldId id="274" r:id="rId5"/>
    <p:sldId id="269" r:id="rId6"/>
    <p:sldId id="267" r:id="rId7"/>
    <p:sldId id="277" r:id="rId8"/>
    <p:sldId id="278" r:id="rId9"/>
    <p:sldId id="270" r:id="rId10"/>
    <p:sldId id="272" r:id="rId11"/>
    <p:sldId id="279" r:id="rId12"/>
  </p:sldIdLst>
  <p:sldSz cx="9144000" cy="5143500" type="screen16x9"/>
  <p:notesSz cx="5143500" cy="9144000"/>
  <p:embeddedFontLst>
    <p:embeddedFont>
      <p:font typeface="Onest" panose="020B0604020202020204" charset="0"/>
      <p:regular r:id="rId14"/>
      <p:bold r:id="rId15"/>
    </p:embeddedFont>
    <p:embeddedFont>
      <p:font typeface="Onest Light" panose="020B0604020202020204" charset="0"/>
      <p:regular r:id="rId16"/>
    </p:embeddedFont>
    <p:embeddedFont>
      <p:font typeface="Onest SemiBold" panose="020B0604020202020204" charset="0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142" userDrawn="1">
          <p15:clr>
            <a:srgbClr val="A4A3A4"/>
          </p15:clr>
        </p15:guide>
        <p15:guide id="4" orient="horz" pos="3117" userDrawn="1">
          <p15:clr>
            <a:srgbClr val="A4A3A4"/>
          </p15:clr>
        </p15:guide>
        <p15:guide id="6" pos="4286" userDrawn="1">
          <p15:clr>
            <a:srgbClr val="A4A3A4"/>
          </p15:clr>
        </p15:guide>
        <p15:guide id="7" pos="3243" userDrawn="1">
          <p15:clr>
            <a:srgbClr val="A4A3A4"/>
          </p15:clr>
        </p15:guide>
        <p15:guide id="8" pos="4354" userDrawn="1">
          <p15:clr>
            <a:srgbClr val="A4A3A4"/>
          </p15:clr>
        </p15:guide>
        <p15:guide id="9" pos="44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192"/>
    <a:srgbClr val="8FAADC"/>
    <a:srgbClr val="2F5597"/>
    <a:srgbClr val="F7F6F2"/>
    <a:srgbClr val="C8D8D9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5" autoAdjust="0"/>
    <p:restoredTop sz="94660"/>
  </p:normalViewPr>
  <p:slideViewPr>
    <p:cSldViewPr snapToGrid="0" showGuides="1">
      <p:cViewPr>
        <p:scale>
          <a:sx n="135" d="100"/>
          <a:sy n="135" d="100"/>
        </p:scale>
        <p:origin x="84" y="108"/>
      </p:cViewPr>
      <p:guideLst>
        <p:guide orient="horz" pos="1960"/>
        <p:guide pos="2880"/>
        <p:guide orient="horz" pos="2142"/>
        <p:guide orient="horz" pos="3117"/>
        <p:guide pos="4286"/>
        <p:guide pos="3243"/>
        <p:guide pos="4354"/>
        <p:guide pos="44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nest" pitchFamily="2" charset="0"/>
                <a:ea typeface="+mn-ea"/>
                <a:cs typeface="+mn-cs"/>
              </a:defRPr>
            </a:pPr>
            <a:r>
              <a:rPr lang="ru-RU" sz="1050" b="0" dirty="0"/>
              <a:t>Охват</a:t>
            </a:r>
            <a:r>
              <a:rPr lang="ru-RU" sz="1050" b="0" baseline="0" dirty="0"/>
              <a:t> мероприятиями и программами</a:t>
            </a:r>
            <a:endParaRPr lang="ru-RU" sz="1050" b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Onest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102000"/>
                    <a:tint val="94000"/>
                  </a:schemeClr>
                </a:gs>
                <a:gs pos="50000">
                  <a:schemeClr val="accent1"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hade val="7800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  <a:sp3d/>
          </c:spPr>
          <c:invertIfNegative val="0"/>
          <c:cat>
            <c:strRef>
              <c:f>Лист1!$A$2:$A$3</c:f>
              <c:strCache>
                <c:ptCount val="2"/>
                <c:pt idx="0">
                  <c:v>План на 2025г</c:v>
                </c:pt>
                <c:pt idx="1">
                  <c:v>Факт на 2025г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14.6</c:v>
                </c:pt>
                <c:pt idx="1">
                  <c:v>16.2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3E-4B80-B3AE-1E44934DA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58527343"/>
        <c:axId val="758521103"/>
        <c:axId val="0"/>
      </c:bar3DChart>
      <c:catAx>
        <c:axId val="758527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nest" pitchFamily="2" charset="0"/>
                <a:ea typeface="+mn-ea"/>
                <a:cs typeface="+mn-cs"/>
              </a:defRPr>
            </a:pPr>
            <a:endParaRPr lang="ru-RU"/>
          </a:p>
        </c:txPr>
        <c:crossAx val="758521103"/>
        <c:crosses val="autoZero"/>
        <c:auto val="1"/>
        <c:lblAlgn val="ctr"/>
        <c:lblOffset val="100"/>
        <c:noMultiLvlLbl val="0"/>
      </c:catAx>
      <c:valAx>
        <c:axId val="75852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nest" pitchFamily="2" charset="0"/>
                <a:ea typeface="+mn-ea"/>
                <a:cs typeface="+mn-cs"/>
              </a:defRPr>
            </a:pPr>
            <a:endParaRPr lang="ru-RU"/>
          </a:p>
        </c:txPr>
        <c:crossAx val="758527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Onest" pitchFamily="2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nest" pitchFamily="2" charset="0"/>
                <a:ea typeface="+mn-ea"/>
                <a:cs typeface="+mn-cs"/>
              </a:defRPr>
            </a:pPr>
            <a:r>
              <a:rPr lang="ru-RU" sz="1050" b="0" i="0" u="none" strike="noStrike" baseline="0" dirty="0">
                <a:effectLst/>
              </a:rPr>
              <a:t> Дети, внесенные в Государственный информационный ресурс о лицах, проявивших выдающиеся способности (ГИР)</a:t>
            </a:r>
            <a:endParaRPr lang="ru-RU" sz="1050" b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Onest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102000"/>
                    <a:tint val="94000"/>
                  </a:schemeClr>
                </a:gs>
                <a:gs pos="50000">
                  <a:schemeClr val="accent1"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hade val="7800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  <a:sp3d/>
          </c:spPr>
          <c:invertIfNegative val="0"/>
          <c:cat>
            <c:strRef>
              <c:f>Лист1!$A$2:$A$3</c:f>
              <c:strCache>
                <c:ptCount val="2"/>
                <c:pt idx="0">
                  <c:v>На 2024г.</c:v>
                </c:pt>
                <c:pt idx="1">
                  <c:v>На 2025г.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8349</c:v>
                </c:pt>
                <c:pt idx="1">
                  <c:v>10182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3E-4B80-B3AE-1E44934DA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58527343"/>
        <c:axId val="758521103"/>
        <c:axId val="0"/>
      </c:bar3DChart>
      <c:catAx>
        <c:axId val="758527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nest" pitchFamily="2" charset="0"/>
                <a:ea typeface="+mn-ea"/>
                <a:cs typeface="+mn-cs"/>
              </a:defRPr>
            </a:pPr>
            <a:endParaRPr lang="ru-RU"/>
          </a:p>
        </c:txPr>
        <c:crossAx val="758521103"/>
        <c:crosses val="autoZero"/>
        <c:auto val="1"/>
        <c:lblAlgn val="ctr"/>
        <c:lblOffset val="100"/>
        <c:noMultiLvlLbl val="0"/>
      </c:catAx>
      <c:valAx>
        <c:axId val="75852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nest" pitchFamily="2" charset="0"/>
                <a:ea typeface="+mn-ea"/>
                <a:cs typeface="+mn-cs"/>
              </a:defRPr>
            </a:pPr>
            <a:endParaRPr lang="ru-RU"/>
          </a:p>
        </c:txPr>
        <c:crossAx val="758527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Onest" pitchFamily="2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u="none" strike="noStrik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Arial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Arial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24F9D149-E2AA-4D0D-A57B-4F7DD6850981}" type="slidenum">
              <a:rPr lang="ru-RU" sz="1400" b="0" u="none" strike="noStrike">
                <a:solidFill>
                  <a:srgbClr val="000000"/>
                </a:solidFill>
                <a:uFillTx/>
                <a:latin typeface="Arial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BA104-1E1F-4C2A-AC7B-EED9187F04F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768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BA104-1E1F-4C2A-AC7B-EED9187F04F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409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11041-920E-41BA-8181-1B5759EA44B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11041-920E-41BA-8181-1B5759EA44B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4931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11041-920E-41BA-8181-1B5759EA44B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3135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BA104-1E1F-4C2A-AC7B-EED9187F04F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22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BA104-1E1F-4C2A-AC7B-EED9187F04F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7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3724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BA104-1E1F-4C2A-AC7B-EED9187F04F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8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523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11041-920E-41BA-8181-1B5759EA44B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9747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11041-920E-41BA-8181-1B5759EA44B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10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4514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11041-920E-41BA-8181-1B5759EA44B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11</a:t>
            </a:fld>
            <a:endParaRPr lang="ru-RU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579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10" Type="http://schemas.openxmlformats.org/officeDocument/2006/relationships/image" Target="../media/image24.jpeg"/><Relationship Id="rId4" Type="http://schemas.openxmlformats.org/officeDocument/2006/relationships/image" Target="../media/image18.png"/><Relationship Id="rId9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3.pn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5" Type="http://schemas.openxmlformats.org/officeDocument/2006/relationships/image" Target="../media/image34.png"/><Relationship Id="rId10" Type="http://schemas.openxmlformats.org/officeDocument/2006/relationships/image" Target="../media/image39.jpeg"/><Relationship Id="rId4" Type="http://schemas.microsoft.com/office/2007/relationships/hdphoto" Target="../media/hdphoto1.wdp"/><Relationship Id="rId9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640080" y="1478260"/>
            <a:ext cx="7863480" cy="24297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32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Системный подход к поддержке </a:t>
            </a:r>
            <a:br>
              <a:rPr lang="en-US" sz="32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</a:br>
            <a:r>
              <a:rPr lang="ru-RU" sz="32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одаренных детей Пензенской области:</a:t>
            </a:r>
            <a:endParaRPr lang="en-US" sz="3200" dirty="0">
              <a:solidFill>
                <a:srgbClr val="144192"/>
              </a:solidFill>
              <a:latin typeface="Onest SemiBold" pitchFamily="2" charset="0"/>
              <a:ea typeface="Trebuchet MS"/>
            </a:endParaRPr>
          </a:p>
          <a:p>
            <a:pPr>
              <a:tabLst>
                <a:tab pos="0" algn="l"/>
              </a:tabLst>
            </a:pPr>
            <a:r>
              <a:rPr lang="ru-RU" sz="2800" dirty="0">
                <a:solidFill>
                  <a:srgbClr val="144192"/>
                </a:solidFill>
                <a:latin typeface="Onest Light" pitchFamily="2" charset="0"/>
                <a:ea typeface="Trebuchet MS"/>
              </a:rPr>
              <a:t>межведомственное взаимодействие </a:t>
            </a:r>
            <a:br>
              <a:rPr lang="en-US" sz="2800" dirty="0">
                <a:solidFill>
                  <a:srgbClr val="144192"/>
                </a:solidFill>
                <a:latin typeface="Onest Light" pitchFamily="2" charset="0"/>
                <a:ea typeface="Trebuchet MS"/>
              </a:rPr>
            </a:br>
            <a:r>
              <a:rPr lang="ru-RU" sz="2800" dirty="0">
                <a:solidFill>
                  <a:srgbClr val="144192"/>
                </a:solidFill>
                <a:latin typeface="Onest Light" pitchFamily="2" charset="0"/>
                <a:ea typeface="Trebuchet MS"/>
              </a:rPr>
              <a:t>и работа с партнерами</a:t>
            </a:r>
            <a:endParaRPr lang="ru-RU" sz="2800" dirty="0">
              <a:solidFill>
                <a:srgbClr val="144192"/>
              </a:solidFill>
              <a:latin typeface="Onest Light" pitchFamily="2" charset="0"/>
            </a:endParaRPr>
          </a:p>
          <a:p>
            <a:pPr>
              <a:tabLst>
                <a:tab pos="0" algn="l"/>
              </a:tabLst>
            </a:pPr>
            <a:endParaRPr lang="ru-RU" sz="32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640079" y="3679835"/>
            <a:ext cx="1294737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338659"/>
            <a:ext cx="1977587" cy="87829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53940" y="3725554"/>
            <a:ext cx="37962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0" algn="l"/>
              </a:tabLst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Light" pitchFamily="2" charset="0"/>
              </a:rPr>
              <a:t>И.Д.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nest Light" pitchFamily="2" charset="0"/>
              </a:rPr>
              <a:t>Танасов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Light" pitchFamily="2" charset="0"/>
              </a:rPr>
              <a:t>, </a:t>
            </a:r>
            <a:b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Light" pitchFamily="2" charset="0"/>
              </a:rPr>
            </a:b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Light" pitchFamily="2" charset="0"/>
              </a:rPr>
              <a:t>руководитель Центра «Ключевский»</a:t>
            </a:r>
          </a:p>
        </p:txBody>
      </p:sp>
    </p:spTree>
    <p:extLst>
      <p:ext uri="{BB962C8B-B14F-4D97-AF65-F5344CB8AC3E}">
        <p14:creationId xmlns:p14="http://schemas.microsoft.com/office/powerpoint/2010/main" val="277793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640080" y="320040"/>
            <a:ext cx="4329485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u="none" strike="noStrike" dirty="0">
                <a:solidFill>
                  <a:srgbClr val="144192"/>
                </a:solidFill>
                <a:uFillTx/>
                <a:latin typeface="Bebas Neue Cyrillic" panose="02000506000000020004" pitchFamily="2" charset="0"/>
                <a:ea typeface="Trebuchet MS"/>
              </a:rPr>
              <a:t>Центр «Ключевский»</a:t>
            </a:r>
            <a:endParaRPr lang="ru-RU" sz="2800" u="none" strike="noStrike" dirty="0">
              <a:solidFill>
                <a:srgbClr val="144192"/>
              </a:solidFill>
              <a:uFillTx/>
              <a:latin typeface="Bebas Neue Cyrillic" panose="02000506000000020004" pitchFamily="2" charset="0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40080" y="731520"/>
            <a:ext cx="3931920" cy="4469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0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Onest" pitchFamily="2" charset="0"/>
                <a:ea typeface="Calibri"/>
              </a:rPr>
              <a:t>Центр выявления и поддержки одаренных детей и молодежи Пензенской области</a:t>
            </a:r>
            <a:endParaRPr lang="ru-RU" sz="1300" u="none" strike="noStrike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640080" y="1292192"/>
            <a:ext cx="1096920" cy="316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640080" y="1611990"/>
            <a:ext cx="3657240" cy="1359810"/>
          </a:xfrm>
          <a:prstGeom prst="roundRect">
            <a:avLst>
              <a:gd name="adj" fmla="val 11429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640080" y="173115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u="none" strike="noStrike" dirty="0">
                <a:solidFill>
                  <a:schemeClr val="bg1"/>
                </a:solidFill>
                <a:uFillTx/>
                <a:latin typeface="Onest" pitchFamily="2" charset="0"/>
                <a:ea typeface="Trebuchet MS"/>
              </a:rPr>
              <a:t>Охват за 2025 г.</a:t>
            </a:r>
            <a:endParaRPr lang="ru-RU" sz="2800" b="0" u="none" strike="noStrike" dirty="0">
              <a:solidFill>
                <a:schemeClr val="bg1"/>
              </a:solidFill>
              <a:uFillTx/>
              <a:latin typeface="Onest" pitchFamily="2" charset="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731520" y="2223495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ru-RU" sz="1400" b="0" u="none" strike="noStrike" dirty="0">
                <a:solidFill>
                  <a:schemeClr val="bg1">
                    <a:lumMod val="85000"/>
                  </a:schemeClr>
                </a:solidFill>
                <a:uFillTx/>
                <a:latin typeface="Onest" pitchFamily="2" charset="0"/>
                <a:ea typeface="Calibri"/>
              </a:rPr>
              <a:t>16 276 человек</a:t>
            </a: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ru-RU" sz="1400" b="0" u="none" strike="noStrike" dirty="0">
                <a:solidFill>
                  <a:schemeClr val="bg1">
                    <a:lumMod val="85000"/>
                  </a:schemeClr>
                </a:solidFill>
                <a:uFillTx/>
                <a:latin typeface="Onest" pitchFamily="2" charset="0"/>
              </a:rPr>
              <a:t>93 программы</a:t>
            </a: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ru-RU" sz="1400" dirty="0">
                <a:solidFill>
                  <a:schemeClr val="bg1">
                    <a:lumMod val="85000"/>
                  </a:schemeClr>
                </a:solidFill>
                <a:latin typeface="Onest" pitchFamily="2" charset="0"/>
              </a:rPr>
              <a:t>32 мероприятия</a:t>
            </a:r>
            <a:endParaRPr lang="ru-RU" sz="1400" b="0" u="none" strike="noStrike" dirty="0">
              <a:solidFill>
                <a:schemeClr val="bg1">
                  <a:lumMod val="8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640080" y="3405302"/>
            <a:ext cx="3657240" cy="33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uFillTx/>
              <a:latin typeface="Onest" pitchFamily="2" charset="0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74050" y="3423662"/>
            <a:ext cx="34020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000" b="1" u="none" strike="noStrike" dirty="0">
                <a:solidFill>
                  <a:srgbClr val="28251D"/>
                </a:solidFill>
                <a:uFillTx/>
                <a:latin typeface="Onest" pitchFamily="2" charset="0"/>
                <a:ea typeface="Calibri"/>
              </a:rPr>
              <a:t>НАПРАВЛЕНИЕ «НАУКА»</a:t>
            </a:r>
            <a:r>
              <a:rPr lang="en-US" sz="900" b="0" u="none" strike="noStrike" dirty="0">
                <a:solidFill>
                  <a:srgbClr val="5A5856"/>
                </a:solidFill>
                <a:uFillTx/>
                <a:latin typeface="Onest" pitchFamily="2" charset="0"/>
                <a:ea typeface="Calibri"/>
              </a:rPr>
              <a:t>  </a:t>
            </a:r>
            <a:r>
              <a:rPr lang="ru-RU" sz="900" b="0" u="none" strike="noStrike" dirty="0">
                <a:solidFill>
                  <a:srgbClr val="5A5856"/>
                </a:solidFill>
                <a:uFillTx/>
                <a:latin typeface="Onest" pitchFamily="2" charset="0"/>
                <a:ea typeface="Calibri"/>
              </a:rPr>
              <a:t>13 654 участника</a:t>
            </a:r>
            <a:endParaRPr lang="ru-RU" sz="900" b="0" u="none" strike="noStrike" dirty="0">
              <a:solidFill>
                <a:srgbClr val="000000"/>
              </a:solidFill>
              <a:uFillTx/>
              <a:latin typeface="Onest" pitchFamily="2" charset="0"/>
            </a:endParaRPr>
          </a:p>
        </p:txBody>
      </p:sp>
      <p:sp>
        <p:nvSpPr>
          <p:cNvPr id="60" name="Text 6"/>
          <p:cNvSpPr/>
          <p:nvPr/>
        </p:nvSpPr>
        <p:spPr>
          <a:xfrm>
            <a:off x="774050" y="3762062"/>
            <a:ext cx="34020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000" b="1" u="none" strike="noStrike" dirty="0">
                <a:solidFill>
                  <a:srgbClr val="28251D"/>
                </a:solidFill>
                <a:uFillTx/>
                <a:latin typeface="Onest" pitchFamily="2" charset="0"/>
                <a:ea typeface="Calibri"/>
              </a:rPr>
              <a:t>НАПРАВЛЕНИЕ «ИСКУССТВО» </a:t>
            </a:r>
            <a:r>
              <a:rPr lang="ru-RU" sz="900" b="0" u="none" strike="noStrike" dirty="0">
                <a:solidFill>
                  <a:srgbClr val="5A5856"/>
                </a:solidFill>
                <a:uFillTx/>
                <a:latin typeface="Onest" pitchFamily="2" charset="0"/>
                <a:ea typeface="Calibri"/>
              </a:rPr>
              <a:t>1 053</a:t>
            </a:r>
            <a:r>
              <a:rPr lang="ru-RU" sz="900" dirty="0">
                <a:solidFill>
                  <a:srgbClr val="000000"/>
                </a:solidFill>
                <a:latin typeface="Onest" pitchFamily="2" charset="0"/>
              </a:rPr>
              <a:t> </a:t>
            </a:r>
            <a:r>
              <a:rPr lang="ru-RU" sz="900" dirty="0">
                <a:solidFill>
                  <a:schemeClr val="bg2">
                    <a:lumMod val="50000"/>
                  </a:schemeClr>
                </a:solidFill>
                <a:latin typeface="Onest" pitchFamily="2" charset="0"/>
              </a:rPr>
              <a:t>участника </a:t>
            </a:r>
            <a:endParaRPr lang="ru-RU" sz="900" b="0" u="none" strike="noStrike" dirty="0">
              <a:solidFill>
                <a:schemeClr val="bg2">
                  <a:lumMod val="50000"/>
                </a:schemeClr>
              </a:solidFill>
              <a:uFillTx/>
              <a:latin typeface="Onest" pitchFamily="2" charset="0"/>
              <a:ea typeface="Calibri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640080" y="4082102"/>
            <a:ext cx="3657240" cy="33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uFillTx/>
              <a:latin typeface="Onest" pitchFamily="2" charset="0"/>
            </a:endParaRPr>
          </a:p>
        </p:txBody>
      </p:sp>
      <p:sp>
        <p:nvSpPr>
          <p:cNvPr id="62" name="Text 8"/>
          <p:cNvSpPr/>
          <p:nvPr/>
        </p:nvSpPr>
        <p:spPr>
          <a:xfrm>
            <a:off x="774050" y="4100462"/>
            <a:ext cx="34020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000" b="1" u="none" strike="noStrike" dirty="0">
                <a:solidFill>
                  <a:srgbClr val="28251D"/>
                </a:solidFill>
                <a:uFillTx/>
                <a:latin typeface="Onest" pitchFamily="2" charset="0"/>
                <a:ea typeface="Calibri"/>
              </a:rPr>
              <a:t>НАПРАВЛЕНИЕ «СПОРТ» </a:t>
            </a:r>
            <a:r>
              <a:rPr lang="ru-RU" sz="900" b="0" u="none" strike="noStrike" dirty="0">
                <a:solidFill>
                  <a:srgbClr val="5A5856"/>
                </a:solidFill>
                <a:uFillTx/>
                <a:latin typeface="Onest" pitchFamily="2" charset="0"/>
                <a:ea typeface="Calibri"/>
              </a:rPr>
              <a:t>1 508 участников</a:t>
            </a:r>
            <a:endParaRPr lang="ru-RU" sz="900" b="0" u="none" strike="noStrike" dirty="0">
              <a:solidFill>
                <a:srgbClr val="000000"/>
              </a:solidFill>
              <a:uFillTx/>
              <a:latin typeface="Onest" pitchFamily="2" charset="0"/>
            </a:endParaRPr>
          </a:p>
        </p:txBody>
      </p:sp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2594274420"/>
              </p:ext>
            </p:extLst>
          </p:nvPr>
        </p:nvGraphicFramePr>
        <p:xfrm>
          <a:off x="4663440" y="731160"/>
          <a:ext cx="4433777" cy="1939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814853" y="1464549"/>
            <a:ext cx="1065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25000"/>
                  </a:schemeClr>
                </a:solidFill>
                <a:latin typeface="Onest" pitchFamily="2" charset="0"/>
              </a:rPr>
              <a:t>14 545 чел.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1602" y="1188430"/>
            <a:ext cx="1065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solidFill>
                  <a:schemeClr val="bg2">
                    <a:lumMod val="25000"/>
                  </a:schemeClr>
                </a:solidFill>
                <a:latin typeface="Onest" pitchFamily="2" charset="0"/>
              </a:rPr>
              <a:t>16 276 чел.</a:t>
            </a:r>
          </a:p>
        </p:txBody>
      </p:sp>
      <p:graphicFrame>
        <p:nvGraphicFramePr>
          <p:cNvPr id="17" name="Диаграмма 16"/>
          <p:cNvGraphicFramePr/>
          <p:nvPr>
            <p:extLst>
              <p:ext uri="{D42A27DB-BD31-4B8C-83A1-F6EECF244321}">
                <p14:modId xmlns:p14="http://schemas.microsoft.com/office/powerpoint/2010/main" val="352658200"/>
              </p:ext>
            </p:extLst>
          </p:nvPr>
        </p:nvGraphicFramePr>
        <p:xfrm>
          <a:off x="4663440" y="2806656"/>
          <a:ext cx="4433777" cy="1954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8787" y="3668547"/>
            <a:ext cx="10654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  <a:latin typeface="Onest" pitchFamily="2" charset="0"/>
              </a:rPr>
              <a:t>8 349 чел.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1602" y="3593568"/>
            <a:ext cx="10654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solidFill>
                  <a:schemeClr val="bg2">
                    <a:lumMod val="25000"/>
                  </a:schemeClr>
                </a:solidFill>
                <a:latin typeface="Onest" pitchFamily="2" charset="0"/>
              </a:rPr>
              <a:t>10 182 чел.</a:t>
            </a:r>
          </a:p>
        </p:txBody>
      </p:sp>
    </p:spTree>
    <p:extLst>
      <p:ext uri="{BB962C8B-B14F-4D97-AF65-F5344CB8AC3E}">
        <p14:creationId xmlns:p14="http://schemas.microsoft.com/office/powerpoint/2010/main" val="26521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40080" y="849853"/>
            <a:ext cx="1828440" cy="36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4008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202614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 err="1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Гран-при</a:t>
            </a:r>
            <a:endParaRPr lang="ru-RU" sz="18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13160" y="1522654"/>
            <a:ext cx="1728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Всероссийский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конкурс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лучших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практик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трудоустройства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молодёжи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(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Минтруд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РФ)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13160" y="2208454"/>
            <a:ext cx="1728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0" u="none" strike="noStrike" dirty="0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1 055 </a:t>
            </a:r>
            <a:r>
              <a:rPr lang="en-US" sz="750" b="0" u="none" strike="noStrike" dirty="0" err="1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заявок</a:t>
            </a:r>
            <a:r>
              <a:rPr lang="ru-RU" sz="750" dirty="0">
                <a:solidFill>
                  <a:schemeClr val="bg2">
                    <a:lumMod val="75000"/>
                  </a:schemeClr>
                </a:solidFill>
                <a:latin typeface="Onest" pitchFamily="2" charset="0"/>
              </a:rPr>
              <a:t> </a:t>
            </a:r>
            <a:r>
              <a:rPr lang="en-US" sz="750" b="0" u="none" strike="noStrike" dirty="0" err="1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из</a:t>
            </a:r>
            <a:r>
              <a:rPr lang="en-US" sz="750" b="0" u="none" strike="noStrike" dirty="0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 77 </a:t>
            </a:r>
            <a:r>
              <a:rPr lang="en-US" sz="750" b="0" u="none" strike="noStrike" dirty="0" err="1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регионов</a:t>
            </a:r>
            <a:endParaRPr lang="ru-RU" sz="750" b="0" u="none" strike="noStrike" dirty="0">
              <a:solidFill>
                <a:schemeClr val="bg2">
                  <a:lumMod val="7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272484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724840" y="1202614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Лауреат</a:t>
            </a:r>
            <a:endParaRPr lang="ru-RU" sz="18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797920" y="1522654"/>
            <a:ext cx="1728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Премия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ММСО-2025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«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Образование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для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экономики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будущего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.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Коллаборация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 </a:t>
            </a:r>
            <a:r>
              <a:rPr lang="en-US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года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»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797920" y="2208454"/>
            <a:ext cx="1728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50" b="0" u="none" strike="noStrike" dirty="0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1 781 </a:t>
            </a:r>
            <a:r>
              <a:rPr lang="en-US" sz="750" b="0" u="none" strike="noStrike" dirty="0" err="1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заявка</a:t>
            </a:r>
            <a:r>
              <a:rPr lang="ru-RU" sz="750" dirty="0">
                <a:solidFill>
                  <a:schemeClr val="bg2">
                    <a:lumMod val="75000"/>
                  </a:schemeClr>
                </a:solidFill>
                <a:latin typeface="Onest" pitchFamily="2" charset="0"/>
              </a:rPr>
              <a:t> </a:t>
            </a:r>
            <a:r>
              <a:rPr lang="en-US" sz="750" b="0" u="none" strike="noStrike" dirty="0" err="1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из</a:t>
            </a:r>
            <a:r>
              <a:rPr lang="en-US" sz="750" b="0" u="none" strike="noStrike" dirty="0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 81 </a:t>
            </a:r>
            <a:r>
              <a:rPr lang="en-US" sz="750" b="0" u="none" strike="noStrike" dirty="0" err="1">
                <a:solidFill>
                  <a:schemeClr val="bg2">
                    <a:lumMod val="75000"/>
                  </a:schemeClr>
                </a:solidFill>
                <a:uFillTx/>
                <a:latin typeface="Onest" pitchFamily="2" charset="0"/>
                <a:ea typeface="Calibri"/>
              </a:rPr>
              <a:t>региона</a:t>
            </a:r>
            <a:endParaRPr lang="ru-RU" sz="750" b="0" u="none" strike="noStrike" dirty="0">
              <a:solidFill>
                <a:schemeClr val="bg2">
                  <a:lumMod val="7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80960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809600" y="1202614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Лауреат </a:t>
            </a:r>
            <a:r>
              <a:rPr lang="en-US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II </a:t>
            </a:r>
            <a:r>
              <a:rPr lang="ru-RU" sz="1800" b="1" u="none" strike="noStrike" dirty="0" err="1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ст</a:t>
            </a:r>
            <a:endParaRPr lang="ru-RU" sz="18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883040" y="1577734"/>
            <a:ext cx="1728000" cy="76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Всероссийский педагогический конкурс «Мои инновации в образовании», «Инновации в выявлении и поддержке одаренных детей»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89472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894720" y="1202614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  <a:ea typeface="Trebuchet MS"/>
              </a:rPr>
              <a:t>Лауреат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  <a:ea typeface="Trebuchet MS"/>
              </a:rPr>
              <a:t>II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latin typeface="Onest" pitchFamily="2" charset="0"/>
                <a:ea typeface="Trebuchet MS"/>
              </a:rPr>
              <a:t>ст</a:t>
            </a:r>
            <a:endParaRPr lang="ru-RU" dirty="0">
              <a:solidFill>
                <a:schemeClr val="bg1">
                  <a:lumMod val="95000"/>
                </a:schemeClr>
              </a:solidFill>
              <a:latin typeface="Onest" pitchFamily="2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894720" y="1630858"/>
            <a:ext cx="1874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Международный  конкурс </a:t>
            </a:r>
            <a:b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</a:b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лучших практик, реализуемых по доп. Общеразвивающим программам</a:t>
            </a:r>
          </a:p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«Образовательный ОЛИМП»</a:t>
            </a:r>
            <a:endParaRPr lang="ru-RU" sz="900" dirty="0">
              <a:solidFill>
                <a:srgbClr val="FFFFFF"/>
              </a:solidFill>
              <a:latin typeface="Onest" pitchFamily="2" charset="0"/>
            </a:endParaRPr>
          </a:p>
        </p:txBody>
      </p:sp>
      <p:sp>
        <p:nvSpPr>
          <p:cNvPr id="47" name="Text 0"/>
          <p:cNvSpPr/>
          <p:nvPr/>
        </p:nvSpPr>
        <p:spPr>
          <a:xfrm>
            <a:off x="640080" y="3200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400" dirty="0" err="1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Ключевые</a:t>
            </a:r>
            <a:r>
              <a:rPr lang="en-US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 </a:t>
            </a:r>
            <a:r>
              <a:rPr lang="ru-RU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достижения 2025/2026 </a:t>
            </a:r>
            <a:r>
              <a:rPr lang="ru-RU" sz="2400" dirty="0" err="1">
                <a:solidFill>
                  <a:srgbClr val="144192"/>
                </a:solidFill>
                <a:latin typeface="Onest SemiBold" pitchFamily="2" charset="0"/>
                <a:ea typeface="Trebuchet MS"/>
              </a:rPr>
              <a:t>уч.года</a:t>
            </a:r>
            <a:endParaRPr lang="ru-RU" sz="24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pic>
        <p:nvPicPr>
          <p:cNvPr id="48" name="Рисунок 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" y="3400425"/>
            <a:ext cx="1782418" cy="1189903"/>
          </a:xfrm>
          <a:prstGeom prst="roundRect">
            <a:avLst>
              <a:gd name="adj" fmla="val 10653"/>
            </a:avLst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53" y="3409779"/>
            <a:ext cx="1764731" cy="1178096"/>
          </a:xfrm>
          <a:prstGeom prst="roundRect">
            <a:avLst>
              <a:gd name="adj" fmla="val 7893"/>
            </a:avLst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270" y="3400987"/>
            <a:ext cx="1779984" cy="1186888"/>
          </a:xfrm>
          <a:prstGeom prst="roundRect">
            <a:avLst>
              <a:gd name="adj" fmla="val 9298"/>
            </a:avLst>
          </a:prstGeom>
        </p:spPr>
      </p:pic>
      <p:pic>
        <p:nvPicPr>
          <p:cNvPr id="4098" name="Picture 2" descr="https://sun9-15.vkuserphoto.ru/s/v1/ig2/jFPGL6RD29kqLg-UspwT4VwM-wBdO5o2sl6cQ0I34xk1RiQoew_9rtmUnjizsMv5brntz9CndWkONLm_IPr_VQlX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340" y="3400425"/>
            <a:ext cx="1779784" cy="1187450"/>
          </a:xfrm>
          <a:prstGeom prst="roundRect">
            <a:avLst>
              <a:gd name="adj" fmla="val 930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sun9-35.vkuserphoto.ru/s/v1/ig2/36C6BYy7trQwBOTvqbh-yLcVSruY6_RxpuFcdV3K0EZ3nUuyBAtA7u5hw6tiY53Td8qu_AmJQZhCxXtg2U7iKjlA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211" y="3409779"/>
            <a:ext cx="1781871" cy="1187450"/>
          </a:xfrm>
          <a:prstGeom prst="roundRect">
            <a:avLst>
              <a:gd name="adj" fmla="val 930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https://sun9-35.vkuserphoto.ru/s/v1/ig2/36C6BYy7trQwBOTvqbh-yLcVSruY6_RxpuFcdV3K0EZ3nUuyBAtA7u5hw6tiY53Td8qu_AmJQZhCxXtg2U7iKjlA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20"/>
          <a:stretch/>
        </p:blipFill>
        <p:spPr bwMode="auto">
          <a:xfrm>
            <a:off x="8197795" y="3409779"/>
            <a:ext cx="958287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Рисунок 4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49"/>
          <a:stretch/>
        </p:blipFill>
        <p:spPr>
          <a:xfrm>
            <a:off x="-1051" y="3400425"/>
            <a:ext cx="1152349" cy="1189903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40080" y="849853"/>
            <a:ext cx="1828440" cy="36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64008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3" name="Text 4"/>
          <p:cNvSpPr/>
          <p:nvPr/>
        </p:nvSpPr>
        <p:spPr>
          <a:xfrm>
            <a:off x="640080" y="120899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Победитель</a:t>
            </a:r>
            <a:endParaRPr lang="ru-RU" sz="18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713160" y="1454643"/>
            <a:ext cx="1728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Заочный этап </a:t>
            </a: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VI </a:t>
            </a: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Всероссийского конкурса «Молодые стратеги России»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272484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7" name="Text 8"/>
          <p:cNvSpPr/>
          <p:nvPr/>
        </p:nvSpPr>
        <p:spPr>
          <a:xfrm>
            <a:off x="2724840" y="120899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Дипломант </a:t>
            </a:r>
            <a:r>
              <a:rPr lang="en-US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I</a:t>
            </a:r>
            <a:r>
              <a:rPr lang="ru-RU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 </a:t>
            </a:r>
            <a:r>
              <a:rPr lang="ru-RU" sz="1800" b="1" u="none" strike="noStrike" dirty="0" err="1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ст</a:t>
            </a:r>
            <a:endParaRPr lang="ru-RU" sz="18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38" name="Text 9"/>
          <p:cNvSpPr/>
          <p:nvPr/>
        </p:nvSpPr>
        <p:spPr>
          <a:xfrm>
            <a:off x="2797920" y="1529031"/>
            <a:ext cx="1728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XX </a:t>
            </a: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Международный конкурса научных, </a:t>
            </a: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методических работ «Социализация, воспитание, образование»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480960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809600" y="120899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Победитель</a:t>
            </a:r>
            <a:endParaRPr lang="ru-RU" sz="18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4883040" y="1525710"/>
            <a:ext cx="1728000" cy="760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Всероссийский педагогический конкурс «Лучшая методическая разработка в контексте современного образования»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6894720" y="1004906"/>
            <a:ext cx="1874160" cy="158121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6894720" y="120899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  <a:ea typeface="Trebuchet MS"/>
              </a:rPr>
              <a:t>Финалист</a:t>
            </a:r>
            <a:endParaRPr lang="ru-RU" dirty="0">
              <a:solidFill>
                <a:schemeClr val="bg1">
                  <a:lumMod val="95000"/>
                </a:schemeClr>
              </a:solidFill>
              <a:latin typeface="Onest" pitchFamily="2" charset="0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6894720" y="1503726"/>
            <a:ext cx="1874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Премия Президентской платформы «Россия – страна возможностей» в номинации «Образование»</a:t>
            </a:r>
            <a:endParaRPr lang="ru-RU" sz="900" dirty="0">
              <a:solidFill>
                <a:srgbClr val="FFFFFF"/>
              </a:solidFill>
              <a:latin typeface="Onest" pitchFamily="2" charset="0"/>
            </a:endParaRPr>
          </a:p>
        </p:txBody>
      </p:sp>
      <p:sp>
        <p:nvSpPr>
          <p:cNvPr id="47" name="Text 0"/>
          <p:cNvSpPr/>
          <p:nvPr/>
        </p:nvSpPr>
        <p:spPr>
          <a:xfrm>
            <a:off x="640080" y="3200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400" dirty="0" err="1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Ключевые</a:t>
            </a:r>
            <a:r>
              <a:rPr lang="en-US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 </a:t>
            </a:r>
            <a:r>
              <a:rPr lang="ru-RU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достижения 2025/2026 </a:t>
            </a:r>
            <a:r>
              <a:rPr lang="ru-RU" sz="2400" dirty="0" err="1">
                <a:solidFill>
                  <a:srgbClr val="144192"/>
                </a:solidFill>
                <a:latin typeface="Onest SemiBold" pitchFamily="2" charset="0"/>
                <a:ea typeface="Trebuchet MS"/>
              </a:rPr>
              <a:t>уч.года</a:t>
            </a:r>
            <a:endParaRPr lang="ru-RU" sz="24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pic>
        <p:nvPicPr>
          <p:cNvPr id="31" name="Picture 6" descr="https://sun9-10.vkuserphoto.ru/s/v1/ig2/9G57ZZOR76Pj3rW0XThJXD_w0h9O1uAqMgoh40kudNjzPxGzSO73wvMv2SZ5haxrXHwHL0PoBAEZjQPpjVrk4qlY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292" y="3400425"/>
            <a:ext cx="1792315" cy="1194410"/>
          </a:xfrm>
          <a:prstGeom prst="roundRect">
            <a:avLst>
              <a:gd name="adj" fmla="val 678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https://sun9-21.vkuserphoto.ru/s/v1/ig2/yuC4m3fKgkCl5k_tBWm1MJG5_UphDHz9OigwpzTpMarsJYwwIvWiKZ4jqtqN8CpLV3mWkQ8pKV4CTmL1_uGbqDKc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77" y="3395888"/>
            <a:ext cx="1799123" cy="1198947"/>
          </a:xfrm>
          <a:prstGeom prst="roundRect">
            <a:avLst>
              <a:gd name="adj" fmla="val 1051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s://sun9-26.vkuserphoto.ru/s/v1/ig2/hHYCeJA1DjmUYOX5onr1InV8N2ZpaXs2WCEcu-U29FfiAVMgkIbggxl89C-YHOIvvJjf78bnxF_xwPk6qXRh7dxt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223" y="3407948"/>
            <a:ext cx="1779818" cy="1187472"/>
          </a:xfrm>
          <a:prstGeom prst="roundRect">
            <a:avLst>
              <a:gd name="adj" fmla="val 797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sun9-88.vkuserphoto.ru/s/v1/ig2/I-X2HT2uVj2ln9SbsrOurW6Oi2bv9Y6oLfxy5d0TYptMuUlZtm-N4hRxj01XoilRWnauoI6tX9kOR7PEY0VHmYzu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444" y="3407947"/>
            <a:ext cx="1778942" cy="1186888"/>
          </a:xfrm>
          <a:prstGeom prst="roundRect">
            <a:avLst>
              <a:gd name="adj" fmla="val 921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sun9-53.vkuserphoto.ru/s/v1/ig2/kdmKRaZCd5YkjRVnlOGJSXCqoKseXRc_4-MAB_8sPlyLFMF_xxSSljYPtGPJUxNXiu-zlYZRMhDhO8nm7ohakULB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" y="3400425"/>
            <a:ext cx="1790217" cy="1194410"/>
          </a:xfrm>
          <a:prstGeom prst="roundRect">
            <a:avLst>
              <a:gd name="adj" fmla="val 864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 descr="https://sun9-53.vkuserphoto.ru/s/v1/ig2/kdmKRaZCd5YkjRVnlOGJSXCqoKseXRc_4-MAB_8sPlyLFMF_xxSSljYPtGPJUxNXiu-zlYZRMhDhO8nm7ohakULB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694"/>
          <a:stretch/>
        </p:blipFill>
        <p:spPr bwMode="auto">
          <a:xfrm>
            <a:off x="0" y="3407947"/>
            <a:ext cx="560439" cy="11944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8" descr="https://sun9-21.vkuserphoto.ru/s/v1/ig2/yuC4m3fKgkCl5k_tBWm1MJG5_UphDHz9OigwpzTpMarsJYwwIvWiKZ4jqtqN8CpLV3mWkQ8pKV4CTmL1_uGbqDKc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88"/>
          <a:stretch/>
        </p:blipFill>
        <p:spPr bwMode="auto">
          <a:xfrm>
            <a:off x="8576187" y="3395887"/>
            <a:ext cx="566938" cy="1198947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98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40080" y="849853"/>
            <a:ext cx="1828440" cy="36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40080" y="1086523"/>
            <a:ext cx="1874160" cy="1539718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  <a:ea typeface="Trebuchet MS"/>
              </a:rPr>
              <a:t>Анкета на сайте</a:t>
            </a:r>
            <a:endParaRPr lang="ru-RU" sz="1400" dirty="0">
              <a:solidFill>
                <a:schemeClr val="bg1">
                  <a:lumMod val="95000"/>
                </a:schemeClr>
              </a:solidFill>
              <a:latin typeface="Onest" pitchFamily="2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39720" y="1550680"/>
            <a:ext cx="1874160" cy="782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Участник заполняет анкету </a:t>
            </a:r>
            <a:b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</a:b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на странице смены, автоматически становясь участником отборочных мероприятий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2844624"/>
            <a:ext cx="812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ru-RU" sz="1400" b="1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Onest" pitchFamily="2" charset="0"/>
                <a:ea typeface="Calibri"/>
              </a:rPr>
              <a:t>В год проводится 18 профильных смен. Участие бесплатное.</a:t>
            </a:r>
            <a:endParaRPr lang="ru-RU" sz="1400" b="1" dirty="0">
              <a:solidFill>
                <a:schemeClr val="tx1">
                  <a:lumMod val="75000"/>
                  <a:lumOff val="25000"/>
                </a:schemeClr>
              </a:solidFill>
              <a:latin typeface="Onest" pitchFamily="2" charset="0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ru-RU" sz="105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Onest" pitchFamily="2" charset="0"/>
                <a:ea typeface="Calibri"/>
              </a:rPr>
              <a:t>Для иногородних участников предоставляется место в общежитии на базе ГБНОУ ПО Губернский лицей.</a:t>
            </a:r>
          </a:p>
        </p:txBody>
      </p:sp>
      <p:sp>
        <p:nvSpPr>
          <p:cNvPr id="15" name="Shape 7"/>
          <p:cNvSpPr/>
          <p:nvPr/>
        </p:nvSpPr>
        <p:spPr>
          <a:xfrm>
            <a:off x="2724840" y="1086523"/>
            <a:ext cx="1874160" cy="1539718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72484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Портфолио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809600" y="1086523"/>
            <a:ext cx="1874160" cy="1539718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80960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Тестирование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894720" y="1086523"/>
            <a:ext cx="1874160" cy="1539718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89472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Очное участие</a:t>
            </a:r>
            <a:endParaRPr lang="ru-RU" sz="1400" dirty="0">
              <a:solidFill>
                <a:schemeClr val="bg1">
                  <a:lumMod val="95000"/>
                </a:schemeClr>
              </a:solidFill>
              <a:latin typeface="Onest" pitchFamily="2" charset="0"/>
            </a:endParaRPr>
          </a:p>
        </p:txBody>
      </p:sp>
      <p:sp>
        <p:nvSpPr>
          <p:cNvPr id="47" name="Text 0"/>
          <p:cNvSpPr/>
          <p:nvPr/>
        </p:nvSpPr>
        <p:spPr>
          <a:xfrm>
            <a:off x="640080" y="3200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Система отбора </a:t>
            </a:r>
            <a:endParaRPr lang="ru-RU" sz="28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6676"/>
            <a:ext cx="1779242" cy="1186393"/>
          </a:xfrm>
          <a:prstGeom prst="roundRect">
            <a:avLst>
              <a:gd name="adj" fmla="val 9965"/>
            </a:avLst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0"/>
          <a:stretch/>
        </p:blipFill>
        <p:spPr>
          <a:xfrm>
            <a:off x="3635097" y="3391108"/>
            <a:ext cx="1756139" cy="1201959"/>
          </a:xfrm>
          <a:prstGeom prst="roundRect">
            <a:avLst>
              <a:gd name="adj" fmla="val 13359"/>
            </a:avLst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477" y="3391109"/>
            <a:ext cx="1753523" cy="1201959"/>
          </a:xfrm>
          <a:prstGeom prst="roundRect">
            <a:avLst>
              <a:gd name="adj" fmla="val 10713"/>
            </a:avLst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24" y="3400083"/>
            <a:ext cx="1787036" cy="1192986"/>
          </a:xfrm>
          <a:prstGeom prst="roundRect">
            <a:avLst>
              <a:gd name="adj" fmla="val 12001"/>
            </a:avLst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1"/>
          <a:stretch/>
        </p:blipFill>
        <p:spPr>
          <a:xfrm>
            <a:off x="1884330" y="3406129"/>
            <a:ext cx="1645679" cy="1186940"/>
          </a:xfrm>
          <a:prstGeom prst="roundRect">
            <a:avLst>
              <a:gd name="adj" fmla="val 11978"/>
            </a:avLst>
          </a:prstGeom>
        </p:spPr>
      </p:pic>
      <p:sp>
        <p:nvSpPr>
          <p:cNvPr id="3" name="Стрелка вправо 2"/>
          <p:cNvSpPr/>
          <p:nvPr/>
        </p:nvSpPr>
        <p:spPr>
          <a:xfrm>
            <a:off x="2403815" y="1248202"/>
            <a:ext cx="642050" cy="24717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трелка вправо 26"/>
          <p:cNvSpPr/>
          <p:nvPr/>
        </p:nvSpPr>
        <p:spPr>
          <a:xfrm>
            <a:off x="4415495" y="1248202"/>
            <a:ext cx="642050" cy="24717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право 27"/>
          <p:cNvSpPr/>
          <p:nvPr/>
        </p:nvSpPr>
        <p:spPr>
          <a:xfrm>
            <a:off x="6478567" y="1248202"/>
            <a:ext cx="642050" cy="24717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88"/>
          <a:stretch/>
        </p:blipFill>
        <p:spPr>
          <a:xfrm>
            <a:off x="0" y="3400425"/>
            <a:ext cx="1375576" cy="1186393"/>
          </a:xfrm>
          <a:prstGeom prst="roundRect">
            <a:avLst>
              <a:gd name="adj" fmla="val 0"/>
            </a:avLst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6"/>
          <a:stretch/>
        </p:blipFill>
        <p:spPr>
          <a:xfrm>
            <a:off x="7704814" y="3391107"/>
            <a:ext cx="1439186" cy="1201959"/>
          </a:xfrm>
          <a:prstGeom prst="roundRect">
            <a:avLst>
              <a:gd name="adj" fmla="val 0"/>
            </a:avLst>
          </a:prstGeom>
        </p:spPr>
      </p:pic>
      <p:sp>
        <p:nvSpPr>
          <p:cNvPr id="32" name="Text 5"/>
          <p:cNvSpPr/>
          <p:nvPr/>
        </p:nvSpPr>
        <p:spPr>
          <a:xfrm>
            <a:off x="2724840" y="1550680"/>
            <a:ext cx="1873800" cy="782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К анкете участник отбора прикрепляет портфолио </a:t>
            </a:r>
            <a:b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</a:b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с достижениями по профилю смены, </a:t>
            </a:r>
            <a:r>
              <a:rPr lang="ru-RU" sz="900" b="0" u="none" strike="noStrike" dirty="0" err="1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видеовизитку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3" name="Text 5"/>
          <p:cNvSpPr/>
          <p:nvPr/>
        </p:nvSpPr>
        <p:spPr>
          <a:xfrm>
            <a:off x="4866277" y="1567882"/>
            <a:ext cx="1760806" cy="782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В назначенный день участники отбора решают задания, среди которых есть тестовые вопросы и задачи </a:t>
            </a:r>
            <a:b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</a:b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с развернутым решением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6964559" y="1550679"/>
            <a:ext cx="1751738" cy="9344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По сумме баллов за тестирование и портфолио составляется рейтинг. </a:t>
            </a:r>
            <a:b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</a:b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30 человек, набравшие максимум, приглашаются </a:t>
            </a:r>
            <a:b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</a:br>
            <a:r>
              <a:rPr lang="ru-RU" sz="900" dirty="0">
                <a:solidFill>
                  <a:srgbClr val="FFFFFF"/>
                </a:solidFill>
                <a:latin typeface="Onest" pitchFamily="2" charset="0"/>
                <a:ea typeface="Calibri"/>
              </a:rPr>
              <a:t>к очному участию в смене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202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389" y="3782688"/>
            <a:ext cx="1743694" cy="1164052"/>
          </a:xfrm>
          <a:prstGeom prst="roundRect">
            <a:avLst>
              <a:gd name="adj" fmla="val 9740"/>
            </a:avLst>
          </a:prstGeom>
        </p:spPr>
      </p:pic>
      <p:sp>
        <p:nvSpPr>
          <p:cNvPr id="30" name="Text 1"/>
          <p:cNvSpPr/>
          <p:nvPr/>
        </p:nvSpPr>
        <p:spPr>
          <a:xfrm>
            <a:off x="640080" y="731520"/>
            <a:ext cx="3931920" cy="4469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интенсивная профильная образовательная смена для 9-11 классов, 1-2 курса СПО</a:t>
            </a:r>
            <a:endParaRPr lang="ru-RU" sz="1300" u="none" strike="noStrike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32" name="Text 0"/>
          <p:cNvSpPr/>
          <p:nvPr/>
        </p:nvSpPr>
        <p:spPr>
          <a:xfrm>
            <a:off x="640080" y="320040"/>
            <a:ext cx="4329485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u="none" strike="noStrike" dirty="0">
                <a:solidFill>
                  <a:srgbClr val="144192"/>
                </a:solidFill>
                <a:uFillTx/>
                <a:latin typeface="Onest SemiBold" pitchFamily="2" charset="0"/>
                <a:ea typeface="Trebuchet MS"/>
              </a:rPr>
              <a:t>Программирование</a:t>
            </a:r>
            <a:endParaRPr lang="ru-RU" sz="2400" u="none" strike="noStrike" dirty="0">
              <a:solidFill>
                <a:srgbClr val="144192"/>
              </a:solidFill>
              <a:uFillTx/>
              <a:latin typeface="Onest SemiBold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63" y="353483"/>
            <a:ext cx="1862591" cy="51536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865" y="203247"/>
            <a:ext cx="815837" cy="815837"/>
          </a:xfrm>
          <a:prstGeom prst="rect">
            <a:avLst/>
          </a:prstGeom>
        </p:spPr>
      </p:pic>
      <p:sp>
        <p:nvSpPr>
          <p:cNvPr id="12" name="Скругленный прямоугольник 11"/>
          <p:cNvSpPr/>
          <p:nvPr/>
        </p:nvSpPr>
        <p:spPr>
          <a:xfrm>
            <a:off x="640080" y="1291967"/>
            <a:ext cx="1154824" cy="298294"/>
          </a:xfrm>
          <a:prstGeom prst="roundRect">
            <a:avLst>
              <a:gd name="adj" fmla="val 46667"/>
            </a:avLst>
          </a:prstGeom>
          <a:noFill/>
          <a:ln w="19050">
            <a:solidFill>
              <a:srgbClr val="1441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rgbClr val="144192"/>
                </a:solidFill>
                <a:latin typeface="Onest SemiBold" pitchFamily="2" charset="0"/>
              </a:rPr>
              <a:t>НАУКА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388" y="2506016"/>
            <a:ext cx="1743695" cy="1164053"/>
          </a:xfrm>
          <a:prstGeom prst="roundRect">
            <a:avLst>
              <a:gd name="adj" fmla="val 8432"/>
            </a:avLst>
          </a:prstGeom>
        </p:spPr>
      </p:pic>
      <p:pic>
        <p:nvPicPr>
          <p:cNvPr id="1026" name="Picture 2" descr="https://sun9-3.vkuserphoto.ru/s/v1/ig2/VEmCEkL3CeUwNUXg1a6iFzo1chLnydLEIVXL5H8O2ukl70ehTd_yWs6Pl_paBHC0ieT1Cb2mSmzPtKvIRcQpp7YQ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979" y="3779874"/>
            <a:ext cx="1748933" cy="1166866"/>
          </a:xfrm>
          <a:prstGeom prst="roundRect">
            <a:avLst>
              <a:gd name="adj" fmla="val 845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un9-52.vkuserphoto.ru/s/v1/ig2/5jHcJpHGy-H4te3wAdPUEIsegGLLlsbzBRUq6ikewv3dcGvZoS5YXmwYHfEWDMPAoOlXQ4CHtsJ50lxEKWsxtXvB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979" y="2506017"/>
            <a:ext cx="1748933" cy="1166866"/>
          </a:xfrm>
          <a:prstGeom prst="roundRect">
            <a:avLst>
              <a:gd name="adj" fmla="val 908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sun9-21.vkuserphoto.ru/s/v1/ig2/K2Hyi2l9tGnDI-6OQpqFnzt6iGqCF6KVO2dt-fY0jNLdP8PO7MHvAqCtsNt8e0T6tWV5O4odB6I-iHljB_tyFY3-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979" y="1226531"/>
            <a:ext cx="1748933" cy="1166866"/>
          </a:xfrm>
          <a:prstGeom prst="roundRect">
            <a:avLst>
              <a:gd name="adj" fmla="val 971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sun9-58.vkuserphoto.ru/s/v1/ig2/4FtUag8CknQo5JXjJQX3DdIl0BK6b0V9T8XPVc1XPhnwdcGqLzaivjzZb9e6BBCXnow_lCsm_-fonsUZCEP5BXaC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88" y="1230732"/>
            <a:ext cx="1742637" cy="1162665"/>
          </a:xfrm>
          <a:prstGeom prst="roundRect">
            <a:avLst>
              <a:gd name="adj" fmla="val 842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82137" y="1703740"/>
            <a:ext cx="4590502" cy="3380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Цель: Подготовка конкурентоспособных IT-специалистов через решение реальных задач бизнеса</a:t>
            </a:r>
            <a:endParaRPr lang="en-US" sz="900" b="1" dirty="0">
              <a:latin typeface="Onest" pitchFamily="2" charset="0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Партнеры смены: </a:t>
            </a:r>
            <a:r>
              <a:rPr lang="ru-RU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Ассоциация </a:t>
            </a:r>
            <a:r>
              <a:rPr lang="en-US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Secon</a:t>
            </a:r>
            <a:r>
              <a:rPr lang="en-US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, IT-</a:t>
            </a:r>
            <a:r>
              <a:rPr lang="ru-RU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колледж, студии: </a:t>
            </a:r>
            <a:r>
              <a:rPr lang="en-US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BOGGART, </a:t>
            </a:r>
            <a:r>
              <a:rPr lang="en-US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Infotecs</a:t>
            </a:r>
            <a:r>
              <a:rPr lang="en-US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, Tortuga, </a:t>
            </a:r>
            <a:r>
              <a:rPr lang="en-US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CodeInside</a:t>
            </a:r>
            <a:r>
              <a:rPr lang="en-US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Smarta</a:t>
            </a:r>
            <a:r>
              <a:rPr lang="en-US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Okdesk</a:t>
            </a:r>
            <a:endParaRPr lang="en-US" sz="900" dirty="0">
              <a:latin typeface="Onest" pitchFamily="2" charset="0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Развитие </a:t>
            </a:r>
            <a:r>
              <a:rPr lang="en-US" sz="900" b="1" dirty="0">
                <a:latin typeface="Onest" pitchFamily="2" charset="0"/>
              </a:rPr>
              <a:t>hard skills</a:t>
            </a:r>
            <a:r>
              <a:rPr lang="ru-RU" sz="900" b="1" dirty="0">
                <a:latin typeface="Onest" pitchFamily="2" charset="0"/>
              </a:rPr>
              <a:t>: </a:t>
            </a:r>
            <a:r>
              <a:rPr lang="ru-RU" sz="900" dirty="0">
                <a:latin typeface="Onest" pitchFamily="2" charset="0"/>
              </a:rPr>
              <a:t>программирование на разных языках, работа над реальными кейсами, взаимодействие с заказчиком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6 команд по 5 человек в течение 14 дней решали кейсы и создали </a:t>
            </a:r>
            <a:r>
              <a:rPr lang="ru-RU" sz="900" dirty="0">
                <a:latin typeface="Onest" pitchFamily="2" charset="0"/>
              </a:rPr>
              <a:t>мобильные игры, симуляторы, боты, сайты, приложения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Развитие </a:t>
            </a:r>
            <a:r>
              <a:rPr lang="ru-RU" sz="900" b="1" dirty="0" err="1">
                <a:latin typeface="Onest" pitchFamily="2" charset="0"/>
              </a:rPr>
              <a:t>soft</a:t>
            </a:r>
            <a:r>
              <a:rPr lang="ru-RU" sz="900" b="1" dirty="0">
                <a:latin typeface="Onest" pitchFamily="2" charset="0"/>
              </a:rPr>
              <a:t> </a:t>
            </a:r>
            <a:r>
              <a:rPr lang="ru-RU" sz="900" b="1" dirty="0" err="1">
                <a:latin typeface="Onest" pitchFamily="2" charset="0"/>
              </a:rPr>
              <a:t>skills</a:t>
            </a:r>
            <a:r>
              <a:rPr lang="ru-RU" sz="900" b="1" dirty="0">
                <a:latin typeface="Onest" pitchFamily="2" charset="0"/>
              </a:rPr>
              <a:t>: </a:t>
            </a:r>
            <a:r>
              <a:rPr lang="ru-RU" sz="900" dirty="0">
                <a:latin typeface="Onest" pitchFamily="2" charset="0"/>
              </a:rPr>
              <a:t>презентации, командная работа, гибкость мышления, адаптивность, </a:t>
            </a:r>
            <a:r>
              <a:rPr lang="en-US" sz="900" dirty="0">
                <a:latin typeface="Onest" pitchFamily="2" charset="0"/>
              </a:rPr>
              <a:t>EQ</a:t>
            </a:r>
            <a:r>
              <a:rPr lang="ru-RU" sz="900" dirty="0">
                <a:latin typeface="Onest" pitchFamily="2" charset="0"/>
              </a:rPr>
              <a:t>, управление стрессом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Знакомство с потенциальными работодателями: </a:t>
            </a:r>
            <a:r>
              <a:rPr lang="ru-RU" sz="900" dirty="0">
                <a:latin typeface="Onest" pitchFamily="2" charset="0"/>
              </a:rPr>
              <a:t>наставниками проектов стали сотрудники </a:t>
            </a:r>
            <a:r>
              <a:rPr lang="en-US" sz="900" dirty="0">
                <a:latin typeface="Onest" pitchFamily="2" charset="0"/>
              </a:rPr>
              <a:t>IT</a:t>
            </a:r>
            <a:r>
              <a:rPr lang="ru-RU" sz="900" dirty="0">
                <a:latin typeface="Onest" pitchFamily="2" charset="0"/>
              </a:rPr>
              <a:t>-компаний региона, в течение смены все участники посетили 5 офисов </a:t>
            </a:r>
            <a:r>
              <a:rPr lang="en-US" sz="900" dirty="0">
                <a:latin typeface="Onest" pitchFamily="2" charset="0"/>
              </a:rPr>
              <a:t>IT</a:t>
            </a:r>
            <a:r>
              <a:rPr lang="ru-RU" sz="900" dirty="0">
                <a:latin typeface="Onest" pitchFamily="2" charset="0"/>
              </a:rPr>
              <a:t>-компаний региона</a:t>
            </a:r>
          </a:p>
          <a:p>
            <a:pPr marL="171450" indent="-171450">
              <a:lnSpc>
                <a:spcPct val="10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 err="1">
                <a:latin typeface="Onest" panose="020B0604020202020204" charset="0"/>
              </a:rPr>
              <a:t>Постсопровождение</a:t>
            </a:r>
            <a:r>
              <a:rPr lang="ru-RU" sz="900" b="1" dirty="0">
                <a:latin typeface="Onest" panose="020B0604020202020204" charset="0"/>
              </a:rPr>
              <a:t>: </a:t>
            </a:r>
            <a:r>
              <a:rPr lang="ru-RU" sz="900" dirty="0">
                <a:latin typeface="Onest" panose="020B0604020202020204" charset="0"/>
              </a:rPr>
              <a:t>более 70% выпускников обучаются в вузах</a:t>
            </a:r>
            <a:r>
              <a:rPr lang="en-US" sz="900" dirty="0">
                <a:latin typeface="Onest" panose="020B0604020202020204" charset="0"/>
              </a:rPr>
              <a:t> </a:t>
            </a:r>
            <a:r>
              <a:rPr lang="ru-RU" sz="900" dirty="0">
                <a:latin typeface="Onest" panose="020B0604020202020204" charset="0"/>
              </a:rPr>
              <a:t>по направлениям подготовки, связанными с IT, информационной</a:t>
            </a:r>
            <a:r>
              <a:rPr lang="en-US" sz="900" dirty="0">
                <a:latin typeface="Onest" panose="020B0604020202020204" charset="0"/>
              </a:rPr>
              <a:t> </a:t>
            </a:r>
            <a:r>
              <a:rPr lang="ru-RU" sz="900" dirty="0">
                <a:latin typeface="Onest" panose="020B0604020202020204" charset="0"/>
              </a:rPr>
              <a:t>безопасностью, прикладной математикой и информатикой. *</a:t>
            </a:r>
            <a:endParaRPr lang="en-US" sz="900" dirty="0">
              <a:latin typeface="Onest" panose="020B0604020202020204" charset="0"/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1" dirty="0">
                <a:solidFill>
                  <a:srgbClr val="144192"/>
                </a:solidFill>
                <a:latin typeface="Onest" panose="020B0604020202020204" charset="0"/>
              </a:rPr>
              <a:t>*Трудоустроены в региональные IT-студии,                                                </a:t>
            </a:r>
            <a:r>
              <a:rPr lang="ru-RU" sz="900" b="1" dirty="0" err="1">
                <a:solidFill>
                  <a:srgbClr val="144192"/>
                </a:solidFill>
                <a:latin typeface="Onest" panose="020B0604020202020204" charset="0"/>
              </a:rPr>
              <a:t>Точка.Банк</a:t>
            </a:r>
            <a:r>
              <a:rPr lang="ru-RU" sz="900" b="1" dirty="0">
                <a:solidFill>
                  <a:srgbClr val="144192"/>
                </a:solidFill>
                <a:latin typeface="Onest" panose="020B0604020202020204" charset="0"/>
              </a:rPr>
              <a:t>, Яндекс, </a:t>
            </a:r>
            <a:r>
              <a:rPr lang="ru-RU" sz="900" b="1" dirty="0" err="1">
                <a:solidFill>
                  <a:srgbClr val="144192"/>
                </a:solidFill>
                <a:latin typeface="Onest" panose="020B0604020202020204" charset="0"/>
              </a:rPr>
              <a:t>Инрнод</a:t>
            </a:r>
            <a:r>
              <a:rPr lang="ru-RU" sz="900" b="1" dirty="0">
                <a:solidFill>
                  <a:srgbClr val="144192"/>
                </a:solidFill>
                <a:latin typeface="Onest" panose="020B0604020202020204" charset="0"/>
              </a:rPr>
              <a:t>, </a:t>
            </a:r>
            <a:r>
              <a:rPr lang="ru-RU" sz="900" b="1" dirty="0" err="1">
                <a:solidFill>
                  <a:srgbClr val="144192"/>
                </a:solidFill>
                <a:latin typeface="Onest" panose="020B0604020202020204" charset="0"/>
              </a:rPr>
              <a:t>Astrum</a:t>
            </a:r>
            <a:endParaRPr lang="ru-RU" sz="200" b="1" dirty="0">
              <a:solidFill>
                <a:srgbClr val="144192"/>
              </a:solidFill>
              <a:latin typeface="One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54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1"/>
          <p:cNvSpPr/>
          <p:nvPr/>
        </p:nvSpPr>
        <p:spPr>
          <a:xfrm>
            <a:off x="640080" y="731520"/>
            <a:ext cx="3931920" cy="4469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интенсивная профильная проектная</a:t>
            </a:r>
            <a:b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</a:b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смена для 8-11 классов, 1-2 курса СПО</a:t>
            </a:r>
          </a:p>
        </p:txBody>
      </p:sp>
      <p:sp>
        <p:nvSpPr>
          <p:cNvPr id="32" name="Text 0"/>
          <p:cNvSpPr/>
          <p:nvPr/>
        </p:nvSpPr>
        <p:spPr>
          <a:xfrm>
            <a:off x="640080" y="320040"/>
            <a:ext cx="4329485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Креативные индустрии</a:t>
            </a:r>
            <a:endParaRPr lang="ru-RU" sz="24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622" y="312899"/>
            <a:ext cx="743956" cy="6965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744" y="249340"/>
            <a:ext cx="2115933" cy="760147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640080" y="1291967"/>
            <a:ext cx="1526650" cy="298294"/>
          </a:xfrm>
          <a:prstGeom prst="roundRect">
            <a:avLst>
              <a:gd name="adj" fmla="val 46667"/>
            </a:avLst>
          </a:prstGeom>
          <a:noFill/>
          <a:ln w="19050">
            <a:solidFill>
              <a:srgbClr val="1441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rgbClr val="144192"/>
                </a:solidFill>
                <a:latin typeface="Onest SemiBold" pitchFamily="2" charset="0"/>
              </a:rPr>
              <a:t>ИСКУССТВО</a:t>
            </a:r>
          </a:p>
        </p:txBody>
      </p:sp>
      <p:pic>
        <p:nvPicPr>
          <p:cNvPr id="3074" name="Picture 2" descr="https://sun9-81.vkuserphoto.ru/s/v1/ig2/YDv2aB6ytMyUk2QOiYo_K3z1gOi7mBpC5__58eH6hI0AYH78qnvQEIZLMe7-k85Vwzdl-ZwnzzyRXsFCDyLRyyAX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907" y="1291967"/>
            <a:ext cx="1746760" cy="1164052"/>
          </a:xfrm>
          <a:prstGeom prst="roundRect">
            <a:avLst>
              <a:gd name="adj" fmla="val 904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un9-33.vkuserphoto.ru/s/v1/ig2/OSehPtzNfKthb-0oxhzoF9MWhigQj0lKUpehPKXruC9OnrcL0AXIdmVkrVa8Sx7GDl5TyYcfTdF1_cmuN0fa_KCh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1291968"/>
            <a:ext cx="1760938" cy="1173500"/>
          </a:xfrm>
          <a:prstGeom prst="roundRect">
            <a:avLst>
              <a:gd name="adj" fmla="val 968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sun9-67.vkuserphoto.ru/s/v1/ig2/_mcY8OF0NPEl2KldD8YA434Cy4JHAFyEIP_s3qsBsCLBQg1OdTQiV82UknAkc3vtxaQT4Vt1mP7HX0-vl15Wxtr0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907" y="2540579"/>
            <a:ext cx="1749118" cy="1165623"/>
          </a:xfrm>
          <a:prstGeom prst="roundRect">
            <a:avLst>
              <a:gd name="adj" fmla="val 1022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sun9-32.vkuserphoto.ru/s/v1/ig2/cYOBgg-N9p-D3CAYRrgldYnlIocyI5BfetrRSw42SbiTTRxN_YQLXha_BAugZXN6D1Im3dE7Ll_eY5QQBodgNcW2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87" y="3786935"/>
            <a:ext cx="1742637" cy="1161304"/>
          </a:xfrm>
          <a:prstGeom prst="roundRect">
            <a:avLst>
              <a:gd name="adj" fmla="val 785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ttps://sun9-20.vkuserphoto.ru/s/v1/ig2/MShriS8Yz3p26JWx9pDh5OmMOR8kgib6-PpGUYnl9zquxB0-lptEJ6amuWTVWd3Wbzvl3S9IZBrrzDF0l_F3y6ls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2532702"/>
            <a:ext cx="1760937" cy="1173500"/>
          </a:xfrm>
          <a:prstGeom prst="roundRect">
            <a:avLst>
              <a:gd name="adj" fmla="val 910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https://sun9-42.vkuserphoto.ru/s/v1/ig2/_qd0o5Zr1pm3I9o9sjO-EPkxvN3fJ3pdMp4FAQeLnreLmh4QhRXcjIHPjTL8BlHT5fMdFrIn-zu3Bzu5JYLyZn0z.jpg?quality=95&amp;as=32x21,48x32,72x48,108x72,160x107,240x160,360x240,480x320,540x360,640x427,720x480,1080x720,1280x853,1440x960,2560x1707&amp;from=bu&amp;cs=1280x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022" y="3773437"/>
            <a:ext cx="1762890" cy="1174801"/>
          </a:xfrm>
          <a:prstGeom prst="roundRect">
            <a:avLst>
              <a:gd name="adj" fmla="val 969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82137" y="1703740"/>
            <a:ext cx="456246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Цель: Информирование о востребованных профессиях в креативных индустриях региона через решение творческих кейсов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Партнеры смены: </a:t>
            </a:r>
            <a:r>
              <a:rPr lang="ru-RU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Неделя моды «Знай Пензу», Студия </a:t>
            </a:r>
            <a:r>
              <a:rPr lang="en-US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7DIFF</a:t>
            </a:r>
            <a:r>
              <a:rPr lang="ru-RU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ru-RU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Гастрофест</a:t>
            </a:r>
            <a:r>
              <a:rPr lang="ru-RU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, студия «Молодой портной», флористическая студия «Цветы, конечно», капсульная коллекция «Шабаш», украшения из керамики «</a:t>
            </a:r>
            <a:r>
              <a:rPr lang="en-US" sz="900" dirty="0" err="1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Delva</a:t>
            </a:r>
            <a:r>
              <a:rPr lang="ru-RU" sz="9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»</a:t>
            </a:r>
            <a:endParaRPr lang="en-US" sz="900" dirty="0">
              <a:latin typeface="Onest" pitchFamily="2" charset="0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Развитие </a:t>
            </a:r>
            <a:r>
              <a:rPr lang="en-US" sz="900" b="1" dirty="0">
                <a:latin typeface="Onest" pitchFamily="2" charset="0"/>
              </a:rPr>
              <a:t>hard skills</a:t>
            </a:r>
            <a:r>
              <a:rPr lang="ru-RU" sz="900" b="1" dirty="0">
                <a:latin typeface="Onest" pitchFamily="2" charset="0"/>
              </a:rPr>
              <a:t>: </a:t>
            </a:r>
            <a:r>
              <a:rPr lang="ru-RU" sz="900" dirty="0" err="1">
                <a:latin typeface="Onest" pitchFamily="2" charset="0"/>
              </a:rPr>
              <a:t>продюсирование</a:t>
            </a:r>
            <a:r>
              <a:rPr lang="ru-RU" sz="900" dirty="0">
                <a:latin typeface="Onest" pitchFamily="2" charset="0"/>
              </a:rPr>
              <a:t>, дизайн (графический, костюма, рекламный, промышленный), маркетинг и реклама, экономика, менеджмент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в течение 14 дней участники решали кейсы и создали </a:t>
            </a:r>
            <a:r>
              <a:rPr lang="ru-RU" sz="900" dirty="0">
                <a:latin typeface="Onest" pitchFamily="2" charset="0"/>
              </a:rPr>
              <a:t>дизайн упаковки, коллекцию украшений, </a:t>
            </a:r>
            <a:r>
              <a:rPr lang="ru-RU" sz="900" dirty="0" err="1">
                <a:latin typeface="Onest" pitchFamily="2" charset="0"/>
              </a:rPr>
              <a:t>брендбук</a:t>
            </a:r>
            <a:r>
              <a:rPr lang="ru-RU" sz="900" dirty="0">
                <a:latin typeface="Onest" pitchFamily="2" charset="0"/>
              </a:rPr>
              <a:t>, арт-объект, 2 коллекции одежды, технологию производства упаковка</a:t>
            </a:r>
          </a:p>
          <a:p>
            <a:pPr marL="171450" indent="-171450">
              <a:lnSpc>
                <a:spcPct val="10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>
                <a:latin typeface="Onest" pitchFamily="2" charset="0"/>
              </a:rPr>
              <a:t>Развитие </a:t>
            </a:r>
            <a:r>
              <a:rPr lang="ru-RU" sz="900" b="1" dirty="0" err="1">
                <a:latin typeface="Onest" pitchFamily="2" charset="0"/>
              </a:rPr>
              <a:t>soft</a:t>
            </a:r>
            <a:r>
              <a:rPr lang="ru-RU" sz="900" b="1" dirty="0">
                <a:latin typeface="Onest" pitchFamily="2" charset="0"/>
              </a:rPr>
              <a:t> </a:t>
            </a:r>
            <a:r>
              <a:rPr lang="ru-RU" sz="900" b="1" dirty="0" err="1">
                <a:latin typeface="Onest" pitchFamily="2" charset="0"/>
              </a:rPr>
              <a:t>skills</a:t>
            </a:r>
            <a:r>
              <a:rPr lang="ru-RU" sz="900" b="1" dirty="0">
                <a:latin typeface="Onest" pitchFamily="2" charset="0"/>
              </a:rPr>
              <a:t>: </a:t>
            </a:r>
            <a:r>
              <a:rPr lang="ru-RU" sz="900" dirty="0">
                <a:latin typeface="Onest" pitchFamily="2" charset="0"/>
              </a:rPr>
              <a:t>командная работа, гибкость мышления, креативность, </a:t>
            </a:r>
            <a:r>
              <a:rPr lang="ru-RU" sz="900" dirty="0">
                <a:latin typeface="Onest" panose="020B0604020202020204" charset="0"/>
              </a:rPr>
              <a:t>- </a:t>
            </a:r>
            <a:endParaRPr lang="en-US" sz="900" dirty="0">
              <a:latin typeface="Onest" panose="020B0604020202020204" charset="0"/>
            </a:endParaRPr>
          </a:p>
          <a:p>
            <a:pPr marL="171450" indent="-171450">
              <a:lnSpc>
                <a:spcPct val="10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900" b="1" dirty="0" err="1">
                <a:latin typeface="Onest" panose="020B0604020202020204" charset="0"/>
              </a:rPr>
              <a:t>Постсопровождение</a:t>
            </a:r>
            <a:r>
              <a:rPr lang="ru-RU" sz="900" b="1" dirty="0">
                <a:latin typeface="Onest" panose="020B0604020202020204" charset="0"/>
              </a:rPr>
              <a:t>: </a:t>
            </a:r>
            <a:r>
              <a:rPr lang="ru-RU" sz="900" dirty="0">
                <a:latin typeface="Onest" panose="020B0604020202020204" charset="0"/>
              </a:rPr>
              <a:t>более 40% выпускников смены стали студентами вузов и колледжей творческой направленности (журналистика, промышленный дизайн, реклама, ландшафтное строительство, медиа-менеджмент).*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1" dirty="0">
                <a:solidFill>
                  <a:srgbClr val="144192"/>
                </a:solidFill>
                <a:latin typeface="Onest" panose="020B0604020202020204" charset="0"/>
              </a:rPr>
              <a:t>*Более 60% участников смены прошли стажировки на городских фестивалях, в интернет-изданиях, печатных СМИ, рекламных агентствах</a:t>
            </a:r>
          </a:p>
        </p:txBody>
      </p:sp>
    </p:spTree>
    <p:extLst>
      <p:ext uri="{BB962C8B-B14F-4D97-AF65-F5344CB8AC3E}">
        <p14:creationId xmlns:p14="http://schemas.microsoft.com/office/powerpoint/2010/main" val="1449560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1"/>
          <p:cNvSpPr/>
          <p:nvPr/>
        </p:nvSpPr>
        <p:spPr>
          <a:xfrm>
            <a:off x="640080" y="731520"/>
            <a:ext cx="3931920" cy="4469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интенсивные профильные спортивные</a:t>
            </a:r>
            <a:b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</a:b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смены для 5-9 классов</a:t>
            </a:r>
          </a:p>
        </p:txBody>
      </p:sp>
      <p:sp>
        <p:nvSpPr>
          <p:cNvPr id="32" name="Text 0"/>
          <p:cNvSpPr/>
          <p:nvPr/>
        </p:nvSpPr>
        <p:spPr>
          <a:xfrm>
            <a:off x="640080" y="320040"/>
            <a:ext cx="5720963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Эстетическая гимнастика, плавание</a:t>
            </a:r>
            <a:endParaRPr lang="ru-RU" sz="24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9200">
                        <a14:foregroundMark x1="71200" y1="14400" x2="51200" y2="8800"/>
                        <a14:foregroundMark x1="48800" y1="8000" x2="48800" y2="8000"/>
                        <a14:foregroundMark x1="31200" y1="12800" x2="28800" y2="14400"/>
                        <a14:foregroundMark x1="16800" y1="19200" x2="16800" y2="19200"/>
                        <a14:foregroundMark x1="12800" y1="28000" x2="12800" y2="28000"/>
                        <a14:foregroundMark x1="7200" y1="43200" x2="7200" y2="43200"/>
                        <a14:foregroundMark x1="7200" y1="49600" x2="7200" y2="52000"/>
                        <a14:foregroundMark x1="8800" y1="64000" x2="8800" y2="64000"/>
                        <a14:foregroundMark x1="15200" y1="75200" x2="15200" y2="75200"/>
                        <a14:foregroundMark x1="25600" y1="84000" x2="25600" y2="84000"/>
                        <a14:foregroundMark x1="35200" y1="89600" x2="35200" y2="89600"/>
                        <a14:foregroundMark x1="48000" y1="92000" x2="48000" y2="92000"/>
                        <a14:foregroundMark x1="59200" y1="92000" x2="59200" y2="9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151" y="161111"/>
            <a:ext cx="987287" cy="98728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994" y="187610"/>
            <a:ext cx="980002" cy="960787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640080" y="1291967"/>
            <a:ext cx="1154824" cy="298294"/>
          </a:xfrm>
          <a:prstGeom prst="roundRect">
            <a:avLst>
              <a:gd name="adj" fmla="val 46667"/>
            </a:avLst>
          </a:prstGeom>
          <a:noFill/>
          <a:ln w="19050">
            <a:solidFill>
              <a:srgbClr val="1441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rgbClr val="144192"/>
                </a:solidFill>
                <a:latin typeface="Onest SemiBold" pitchFamily="2" charset="0"/>
              </a:rPr>
              <a:t>СПОРТ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388" y="2540578"/>
            <a:ext cx="1757713" cy="1173411"/>
          </a:xfrm>
          <a:prstGeom prst="roundRect">
            <a:avLst>
              <a:gd name="adj" fmla="val 8497"/>
            </a:avLst>
          </a:prstGeom>
        </p:spPr>
      </p:pic>
      <p:pic>
        <p:nvPicPr>
          <p:cNvPr id="2050" name="Picture 2" descr="https://sun9-84.vkuserphoto.ru/s/v1/ig2/yshusiBePlEFhxESljMS5vPcOiVdt63Kr0Ni1EyVAc65hFZJS2N99aAf78CftVvtFAVpOuWAeiw6KQGkRwsBMM6G.jpg?quality=95&amp;as=32x21,48x32,72x48,108x72,160x107,240x160,360x240,480x320,540x360,640x427,720x481,1080x721,1280x854,1440x961,2560x1709&amp;from=bu&amp;cs=256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6" y="1295949"/>
            <a:ext cx="1757676" cy="1173410"/>
          </a:xfrm>
          <a:prstGeom prst="roundRect">
            <a:avLst>
              <a:gd name="adj" fmla="val 1226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un9-33.vkuserphoto.ru/s/v1/ig2/KQrhzOjjy0TZK3ZPKyW9rvA0M8Ub4th0URXzx9O6h41X4l9u4_Q2gLiPsLGSZi9V1esFhjB5BdjbGZ-4R9GWvAFX.jpg?quality=95&amp;as=32x18,48x27,72x40,108x61,160x90,240x135,360x202,480x269,540x303,640x359,720x404,1080x606,1280x718,1440x808,2560x1437&amp;from=bu&amp;cs=1280x0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9"/>
          <a:stretch/>
        </p:blipFill>
        <p:spPr bwMode="auto">
          <a:xfrm>
            <a:off x="6911976" y="2540578"/>
            <a:ext cx="1757673" cy="1173411"/>
          </a:xfrm>
          <a:prstGeom prst="roundRect">
            <a:avLst>
              <a:gd name="adj" fmla="val 968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sun9-76.vkuserphoto.ru/s/v1/ig2/iMYWjACOf61TwxgjHjPPt6tW9F4vj-FO6BtqwCdNE7uVIJ8O1UT_EKTjGBZm6y003d2sKgXf-_-AOezBOhOg2fi9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7" y="3789831"/>
            <a:ext cx="1757674" cy="1166195"/>
          </a:xfrm>
          <a:prstGeom prst="roundRect">
            <a:avLst>
              <a:gd name="adj" fmla="val 966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sun9-53.vkuserphoto.ru/s/v1/ig2/I62UO0HfpJWBZbbK-18J-e620KaD043ZGTOCqNxyPK5tSQ-C4Wt7FOldhcAMDgGyMoxMLN6g8fZhQWIZvJiG-N9G.jpg?quality=95&amp;as=32x21,48x32,72x48,108x72,160x107,240x160,360x240,480x320,540x360,640x427,720x481,1080x721,1280x854,1440x961,2560x1709&amp;from=bu&amp;cs=1280x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87" y="1304971"/>
            <a:ext cx="1738289" cy="1159765"/>
          </a:xfrm>
          <a:prstGeom prst="roundRect">
            <a:avLst>
              <a:gd name="adj" fmla="val 903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s://sun9-12.vkuserphoto.ru/s/v1/ig2/ChsJ0UprEjG2nFNQ4paX1EuGr1Ad1qjtxjJQfrGYQ8QtEs2Je3VCSjmPiDzIOP9cRF5YybH8xjcliP4WVEt0TLIX.jpg?quality=95&amp;as=32x21,48x32,72x48,108x72,160x107,240x160,360x240,480x320,540x360,640x426,720x480,1080x720,1280x853,1440x960,2560x1706&amp;from=bu&amp;cs=1280x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88" y="3789831"/>
            <a:ext cx="1738289" cy="1158407"/>
          </a:xfrm>
          <a:prstGeom prst="roundRect">
            <a:avLst>
              <a:gd name="adj" fmla="val 902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382137" y="1703740"/>
            <a:ext cx="4562462" cy="293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1000" b="1" dirty="0">
                <a:latin typeface="Onest" pitchFamily="2" charset="0"/>
              </a:rPr>
              <a:t>Цель: Летние сборы для подготовки действующих спортсменов федераций к осеннему соревновательному сезону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1000" b="1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Партнеры смены: </a:t>
            </a:r>
            <a:r>
              <a:rPr lang="ru-RU" sz="1000" dirty="0">
                <a:solidFill>
                  <a:srgbClr val="151617"/>
                </a:solidFill>
                <a:latin typeface="Onest" pitchFamily="2" charset="0"/>
                <a:ea typeface="Inconsolata" pitchFamily="34" charset="-122"/>
                <a:cs typeface="Inconsolata" pitchFamily="34" charset="-120"/>
              </a:rPr>
              <a:t>Федерация эстетической гимнастики Пензенской области, Спортивная школа олимпийского резерва Пензенской области.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1000" dirty="0">
                <a:solidFill>
                  <a:srgbClr val="151617"/>
                </a:solidFill>
                <a:latin typeface="Onest" pitchFamily="2" charset="0"/>
                <a:cs typeface="Inconsolata" pitchFamily="34" charset="-120"/>
              </a:rPr>
              <a:t>Так же были реализованы смены совместно со спортивными федерациями видов спорта: баскетбол, дзюдо, художественная гимнастика.</a:t>
            </a:r>
            <a:endParaRPr lang="en-US" sz="1000" dirty="0">
              <a:latin typeface="Onest" pitchFamily="2" charset="0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1000" b="1" dirty="0">
                <a:latin typeface="Onest" pitchFamily="2" charset="0"/>
              </a:rPr>
              <a:t>в течение 14 дней </a:t>
            </a:r>
            <a:r>
              <a:rPr lang="ru-RU" sz="1000" dirty="0">
                <a:latin typeface="Onest" pitchFamily="2" charset="0"/>
              </a:rPr>
              <a:t>участники тренируются в Дворцах спорта с тренерами и на базе Центра «Ключевский», занимаясь специальной и общей физической подготовкой, оттачивают навыки и плавно входят в сезон.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Tx/>
              <a:buChar char="-"/>
              <a:tabLst>
                <a:tab pos="0" algn="l"/>
              </a:tabLst>
            </a:pPr>
            <a:r>
              <a:rPr lang="ru-RU" sz="1000" b="1" dirty="0">
                <a:latin typeface="Onest" pitchFamily="2" charset="0"/>
              </a:rPr>
              <a:t>Развитие </a:t>
            </a:r>
            <a:r>
              <a:rPr lang="ru-RU" sz="1000" b="1" dirty="0" err="1">
                <a:latin typeface="Onest" pitchFamily="2" charset="0"/>
              </a:rPr>
              <a:t>soft</a:t>
            </a:r>
            <a:r>
              <a:rPr lang="ru-RU" sz="1000" b="1" dirty="0">
                <a:latin typeface="Onest" pitchFamily="2" charset="0"/>
              </a:rPr>
              <a:t> </a:t>
            </a:r>
            <a:r>
              <a:rPr lang="ru-RU" sz="1000" b="1" dirty="0" err="1">
                <a:latin typeface="Onest" pitchFamily="2" charset="0"/>
              </a:rPr>
              <a:t>skills</a:t>
            </a:r>
            <a:r>
              <a:rPr lang="ru-RU" sz="1000" b="1" dirty="0">
                <a:latin typeface="Onest" pitchFamily="2" charset="0"/>
              </a:rPr>
              <a:t>: </a:t>
            </a:r>
            <a:r>
              <a:rPr lang="ru-RU" sz="1000" dirty="0">
                <a:latin typeface="Onest" pitchFamily="2" charset="0"/>
              </a:rPr>
              <a:t>командная работа, психологическая устойчивость, работа в высоко конкурентной среде, целеполагание, мотивация</a:t>
            </a:r>
          </a:p>
        </p:txBody>
      </p:sp>
    </p:spTree>
    <p:extLst>
      <p:ext uri="{BB962C8B-B14F-4D97-AF65-F5344CB8AC3E}">
        <p14:creationId xmlns:p14="http://schemas.microsoft.com/office/powerpoint/2010/main" val="378961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40080" y="849853"/>
            <a:ext cx="1828440" cy="36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40079" y="1086522"/>
            <a:ext cx="1943639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Профориентация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2724840" y="1086522"/>
            <a:ext cx="1874160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72484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Сообщество 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809600" y="1086522"/>
            <a:ext cx="1874160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80960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Стажировки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894720" y="1086522"/>
            <a:ext cx="1874160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019924" y="1217841"/>
            <a:ext cx="1748955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Трудоустройство</a:t>
            </a:r>
            <a:endParaRPr lang="ru-RU" sz="1400" dirty="0">
              <a:solidFill>
                <a:schemeClr val="bg1">
                  <a:lumMod val="95000"/>
                </a:schemeClr>
              </a:solidFill>
              <a:latin typeface="Onest" pitchFamily="2" charset="0"/>
            </a:endParaRPr>
          </a:p>
        </p:txBody>
      </p:sp>
      <p:sp>
        <p:nvSpPr>
          <p:cNvPr id="47" name="Text 0"/>
          <p:cNvSpPr/>
          <p:nvPr/>
        </p:nvSpPr>
        <p:spPr>
          <a:xfrm>
            <a:off x="640080" y="3200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dirty="0">
                <a:solidFill>
                  <a:srgbClr val="144192"/>
                </a:solidFill>
                <a:latin typeface="Onest SemiBold" pitchFamily="2" charset="0"/>
              </a:rPr>
              <a:t>Сопровождение выпускников</a:t>
            </a:r>
          </a:p>
        </p:txBody>
      </p:sp>
      <p:sp>
        <p:nvSpPr>
          <p:cNvPr id="27" name="Стрелка вправо 26"/>
          <p:cNvSpPr/>
          <p:nvPr/>
        </p:nvSpPr>
        <p:spPr>
          <a:xfrm>
            <a:off x="2403815" y="1248202"/>
            <a:ext cx="642050" cy="24717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право 27"/>
          <p:cNvSpPr/>
          <p:nvPr/>
        </p:nvSpPr>
        <p:spPr>
          <a:xfrm>
            <a:off x="4415495" y="1248202"/>
            <a:ext cx="642050" cy="24717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право 28"/>
          <p:cNvSpPr/>
          <p:nvPr/>
        </p:nvSpPr>
        <p:spPr>
          <a:xfrm>
            <a:off x="6452038" y="1248202"/>
            <a:ext cx="642050" cy="24717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 5"/>
          <p:cNvSpPr/>
          <p:nvPr/>
        </p:nvSpPr>
        <p:spPr>
          <a:xfrm>
            <a:off x="752168" y="1550679"/>
            <a:ext cx="1716352" cy="1148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8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На каждой смене участники проходят психологические тестирования для выявления типа мышления, лидерских качеств, проф. предрасположенностей</a:t>
            </a:r>
            <a:endParaRPr lang="ru-RU" sz="88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2" name="Text 5"/>
          <p:cNvSpPr/>
          <p:nvPr/>
        </p:nvSpPr>
        <p:spPr>
          <a:xfrm>
            <a:off x="2724840" y="1550679"/>
            <a:ext cx="1873800" cy="1091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Участники 3 и более смен автоматически становятся участниками сообщества выпускников Центра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33" name="Text 5"/>
          <p:cNvSpPr/>
          <p:nvPr/>
        </p:nvSpPr>
        <p:spPr>
          <a:xfrm>
            <a:off x="4866277" y="1567882"/>
            <a:ext cx="1760806" cy="11310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90" dirty="0">
                <a:solidFill>
                  <a:srgbClr val="FFFFFF"/>
                </a:solidFill>
                <a:latin typeface="Onest" pitchFamily="2" charset="0"/>
              </a:rPr>
              <a:t>Центр Ключевский и партнеры центра предоставляют места для прохождения стажировок, набора волонтерских часов.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90" dirty="0">
                <a:solidFill>
                  <a:srgbClr val="FFFFFF"/>
                </a:solidFill>
                <a:latin typeface="Onest" pitchFamily="2" charset="0"/>
              </a:rPr>
              <a:t>Информируем о программах ОЦ «Сириус» для обучения </a:t>
            </a:r>
            <a:br>
              <a:rPr lang="ru-RU" sz="890" dirty="0">
                <a:solidFill>
                  <a:srgbClr val="FFFFFF"/>
                </a:solidFill>
                <a:latin typeface="Onest" pitchFamily="2" charset="0"/>
              </a:rPr>
            </a:br>
            <a:r>
              <a:rPr lang="ru-RU" sz="890" dirty="0">
                <a:solidFill>
                  <a:srgbClr val="FFFFFF"/>
                </a:solidFill>
                <a:latin typeface="Onest" pitchFamily="2" charset="0"/>
              </a:rPr>
              <a:t>и повышения квалификации </a:t>
            </a:r>
          </a:p>
        </p:txBody>
      </p:sp>
      <p:sp>
        <p:nvSpPr>
          <p:cNvPr id="34" name="Text 5"/>
          <p:cNvSpPr/>
          <p:nvPr/>
        </p:nvSpPr>
        <p:spPr>
          <a:xfrm>
            <a:off x="6964559" y="1550679"/>
            <a:ext cx="1751738" cy="11998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Сообщаем о вакансиях партнеров, консультируем </a:t>
            </a:r>
            <a:b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</a:b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при составлении резюме, пишем рекомендательные письма, трудоустраиваем </a:t>
            </a:r>
            <a:b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</a:br>
            <a:r>
              <a:rPr lang="ru-RU" sz="900" b="0" u="none" strike="noStrike" dirty="0">
                <a:solidFill>
                  <a:srgbClr val="FFFFFF"/>
                </a:solidFill>
                <a:uFillTx/>
                <a:latin typeface="Onest" pitchFamily="2" charset="0"/>
                <a:ea typeface="Calibri"/>
              </a:rPr>
              <a:t>в команду Центра</a:t>
            </a:r>
            <a:endParaRPr lang="ru-RU" sz="900" b="0" u="none" strike="noStrike" dirty="0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pic>
        <p:nvPicPr>
          <p:cNvPr id="7170" name="Picture 2" descr="https://sun9-51.vkuserphoto.ru/s/v1/ig2/CVQVAdRgzZPBxduftlOUT6LJb7HNw_TA6nmgt_XV1NwRBDfkqnmKyZKewqtaEL3kTlId1gC0ngZhJtDPYXGOrpha.jpg?quality=95&amp;as=32x21,48x32,72x48,108x73,160x107,240x161,360x242,480x322,540x363,640x430,720x484,1080x726,1280x860,1440x967,1920x1290&amp;from=bu&amp;u=ZHqpraKMM7oQXNkaZ5mIPttngfeyuTS1QMOYKKmJSrk&amp;cs=1920x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09950"/>
            <a:ext cx="1781175" cy="1196727"/>
          </a:xfrm>
          <a:prstGeom prst="roundRect">
            <a:avLst>
              <a:gd name="adj" fmla="val 791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sun9-45.vkuserphoto.ru/s/v1/ig2/uSKAANStLG3NkR65uDpKqD0-GYgjnAHw5ky43wShWz_QYcS9oOcnlR63fmZP5Zd2Fb1W-NOtimuDAUnA_ynOYToB.jpg?quality=95&amp;as=32x21,48x32,72x48,108x72,160x107,240x160,360x240,480x320,540x360,640x426,720x480,1080x720,1280x853,1440x960,2560x1706&amp;from=bu&amp;u=-loMEP5kjkUdJWLE-8z6U-9vZoRdeLEHhbxp4Xv_NQ8&amp;cs=2560x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559" y="3400425"/>
            <a:ext cx="1805441" cy="1203157"/>
          </a:xfrm>
          <a:prstGeom prst="roundRect">
            <a:avLst>
              <a:gd name="adj" fmla="val 795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s://sun9-47.vkuserphoto.ru/s/v1/ig2/TimUAiTQabaT1r9EpoFCbnqzRZ1zHBwXO8m7x3ggKaeAoXa9cRXcKzgpNUqs1DlWBJuo8tECYwt_PcpGFNVSKmii.jpg?quality=95&amp;as=32x21,48x32,72x48,108x72,160x107,240x160,360x240,480x320,540x360,640x427,720x481,1080x721,1280x854,1440x961,2560x1709&amp;from=bu&amp;cs=2560x0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7"/>
          <a:stretch/>
        </p:blipFill>
        <p:spPr bwMode="auto">
          <a:xfrm>
            <a:off x="5571508" y="3400425"/>
            <a:ext cx="1714370" cy="1203157"/>
          </a:xfrm>
          <a:prstGeom prst="roundRect">
            <a:avLst>
              <a:gd name="adj" fmla="val 1112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ttps://sun9-61.vkuserphoto.ru/s/v1/ig2/xtbP3taNrtTXyM4oigkR3svRRmCHmRP7Dg3_9ZmQSpuamhXl1VI9upASRF3rJYxTZgnKGTJvYmqIKvNRFvbKEzjt.jpg?quality=95&amp;as=32x21,48x32,72x48,108x72,160x107,240x160,360x240,480x320,540x360,640x427,720x480,1080x720,1280x853,1440x960,2560x1707&amp;from=bu&amp;cs=2560x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384" y="3400425"/>
            <a:ext cx="1794740" cy="1196727"/>
          </a:xfrm>
          <a:prstGeom prst="roundRect">
            <a:avLst>
              <a:gd name="adj" fmla="val 103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https://sun9-29.vkuserphoto.ru/s/v1/ig2/OK_XAGATc7cEVMtxH1L0EdoRE5BJbOL4LKUZGkOOeGznPWjaoY-omUygYjNhIiAuoh5vi421lScWTOBmVXWBCkbC.jpg?quality=95&amp;as=32x21,48x32,72x48,108x72,160x107,240x160,360x240,480x320,540x360,640x427,720x480,1080x720,1280x853,1440x960,2560x1707&amp;from=bu&amp;cs=256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260" y="3400425"/>
            <a:ext cx="1794739" cy="1196727"/>
          </a:xfrm>
          <a:prstGeom prst="roundRect">
            <a:avLst>
              <a:gd name="adj" fmla="val 870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https://sun9-51.vkuserphoto.ru/s/v1/ig2/CVQVAdRgzZPBxduftlOUT6LJb7HNw_TA6nmgt_XV1NwRBDfkqnmKyZKewqtaEL3kTlId1gC0ngZhJtDPYXGOrpha.jpg?quality=95&amp;as=32x21,48x32,72x48,108x73,160x107,240x161,360x242,480x322,540x363,640x430,720x484,1080x726,1280x860,1440x967,1920x1290&amp;from=bu&amp;u=ZHqpraKMM7oQXNkaZ5mIPttngfeyuTS1QMOYKKmJSrk&amp;cs=1920x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935"/>
          <a:stretch/>
        </p:blipFill>
        <p:spPr bwMode="auto">
          <a:xfrm>
            <a:off x="-6781" y="3406855"/>
            <a:ext cx="1016432" cy="119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https://sun9-29.vkuserphoto.ru/s/v1/ig2/OK_XAGATc7cEVMtxH1L0EdoRE5BJbOL4LKUZGkOOeGznPWjaoY-omUygYjNhIiAuoh5vi421lScWTOBmVXWBCkbC.jpg?quality=95&amp;as=32x21,48x32,72x48,108x72,160x107,240x160,360x240,480x320,540x360,640x427,720x480,1080x720,1280x853,1440x960,2560x1707&amp;from=bu&amp;cs=2560x0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8"/>
          <a:stretch/>
        </p:blipFill>
        <p:spPr bwMode="auto">
          <a:xfrm>
            <a:off x="8324850" y="3400424"/>
            <a:ext cx="819148" cy="119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09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40080" y="849853"/>
            <a:ext cx="1828440" cy="36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583796" y="1086522"/>
            <a:ext cx="1874160" cy="2175293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583796" y="1986310"/>
            <a:ext cx="1874160" cy="276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100" b="1" dirty="0">
                <a:solidFill>
                  <a:srgbClr val="144192"/>
                </a:solidFill>
                <a:latin typeface="Onest" pitchFamily="2" charset="0"/>
              </a:rPr>
              <a:t>Министерство образования</a:t>
            </a:r>
            <a:endParaRPr lang="ru-RU" sz="1100" b="0" u="none" strike="noStrike" dirty="0">
              <a:solidFill>
                <a:srgbClr val="144192"/>
              </a:solidFill>
              <a:uFillTx/>
              <a:latin typeface="Onest" pitchFamily="2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656876" y="2508797"/>
            <a:ext cx="1728000" cy="505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Реализация годового плана работы Центра «Ключевский»</a:t>
            </a:r>
            <a:endParaRPr lang="ru-RU" sz="900" b="0" u="none" strike="noStrike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47" name="Text 0"/>
          <p:cNvSpPr/>
          <p:nvPr/>
        </p:nvSpPr>
        <p:spPr>
          <a:xfrm>
            <a:off x="640080" y="3200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400" dirty="0">
                <a:solidFill>
                  <a:srgbClr val="144192"/>
                </a:solidFill>
                <a:latin typeface="Onest SemiBold" pitchFamily="2" charset="0"/>
                <a:ea typeface="Trebuchet MS"/>
              </a:rPr>
              <a:t>Межведомственное взаимодействие</a:t>
            </a:r>
            <a:endParaRPr lang="ru-RU" sz="2400" dirty="0">
              <a:solidFill>
                <a:srgbClr val="144192"/>
              </a:solidFill>
              <a:latin typeface="Onest SemiBold" pitchFamily="2" charset="0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3641556" y="1086522"/>
            <a:ext cx="1874160" cy="2175293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46" name="Text 4"/>
          <p:cNvSpPr/>
          <p:nvPr/>
        </p:nvSpPr>
        <p:spPr>
          <a:xfrm>
            <a:off x="3641556" y="2024083"/>
            <a:ext cx="1874160" cy="276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1100" b="1" dirty="0">
                <a:solidFill>
                  <a:srgbClr val="144192"/>
                </a:solidFill>
                <a:latin typeface="Onest" pitchFamily="2" charset="0"/>
              </a:rPr>
              <a:t>Министерство физической культуры </a:t>
            </a:r>
            <a:br>
              <a:rPr lang="ru-RU" sz="1100" b="1" dirty="0">
                <a:solidFill>
                  <a:srgbClr val="144192"/>
                </a:solidFill>
                <a:latin typeface="Onest" pitchFamily="2" charset="0"/>
              </a:rPr>
            </a:br>
            <a:r>
              <a:rPr lang="ru-RU" sz="1100" b="1" dirty="0">
                <a:solidFill>
                  <a:srgbClr val="144192"/>
                </a:solidFill>
                <a:latin typeface="Onest" pitchFamily="2" charset="0"/>
              </a:rPr>
              <a:t>и спорта</a:t>
            </a:r>
            <a:endParaRPr lang="ru-RU" sz="1100" dirty="0">
              <a:solidFill>
                <a:srgbClr val="144192"/>
              </a:solidFill>
              <a:latin typeface="Onest" pitchFamily="2" charset="0"/>
            </a:endParaRPr>
          </a:p>
        </p:txBody>
      </p:sp>
      <p:sp>
        <p:nvSpPr>
          <p:cNvPr id="48" name="Text 5"/>
          <p:cNvSpPr/>
          <p:nvPr/>
        </p:nvSpPr>
        <p:spPr>
          <a:xfrm>
            <a:off x="3714636" y="2508796"/>
            <a:ext cx="1728000" cy="6027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Совместное проведение смен по направлению «Спорт»,</a:t>
            </a:r>
            <a:b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</a:br>
            <a: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встреч с выдающимися спортсменами региона</a:t>
            </a:r>
            <a:endParaRPr lang="ru-RU" sz="900" b="0" u="none" strike="noStrike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Onest" pitchFamily="2" charset="0"/>
            </a:endParaRPr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165" y="1130835"/>
            <a:ext cx="692942" cy="692940"/>
          </a:xfrm>
          <a:prstGeom prst="rect">
            <a:avLst/>
          </a:prstGeom>
        </p:spPr>
      </p:pic>
      <p:sp>
        <p:nvSpPr>
          <p:cNvPr id="50" name="Shape 3"/>
          <p:cNvSpPr/>
          <p:nvPr/>
        </p:nvSpPr>
        <p:spPr>
          <a:xfrm>
            <a:off x="5699316" y="1086522"/>
            <a:ext cx="1874160" cy="2175293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51" name="Text 4"/>
          <p:cNvSpPr/>
          <p:nvPr/>
        </p:nvSpPr>
        <p:spPr>
          <a:xfrm>
            <a:off x="5699316" y="2024083"/>
            <a:ext cx="1874160" cy="276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1100" b="1" dirty="0">
                <a:solidFill>
                  <a:srgbClr val="144192"/>
                </a:solidFill>
                <a:latin typeface="Onest" pitchFamily="2" charset="0"/>
              </a:rPr>
              <a:t>Министерство </a:t>
            </a:r>
            <a:br>
              <a:rPr lang="ru-RU" sz="1100" b="1" dirty="0">
                <a:solidFill>
                  <a:srgbClr val="144192"/>
                </a:solidFill>
                <a:latin typeface="Onest" pitchFamily="2" charset="0"/>
              </a:rPr>
            </a:br>
            <a:r>
              <a:rPr lang="ru-RU" sz="1100" b="1" dirty="0">
                <a:solidFill>
                  <a:srgbClr val="144192"/>
                </a:solidFill>
                <a:latin typeface="Onest" pitchFamily="2" charset="0"/>
              </a:rPr>
              <a:t>цифрового развития </a:t>
            </a:r>
            <a:br>
              <a:rPr lang="ru-RU" sz="1100" b="1" dirty="0">
                <a:solidFill>
                  <a:srgbClr val="144192"/>
                </a:solidFill>
                <a:latin typeface="Onest" pitchFamily="2" charset="0"/>
              </a:rPr>
            </a:br>
            <a:r>
              <a:rPr lang="ru-RU" sz="1100" b="1" dirty="0">
                <a:solidFill>
                  <a:srgbClr val="144192"/>
                </a:solidFill>
                <a:latin typeface="Onest" pitchFamily="2" charset="0"/>
              </a:rPr>
              <a:t>и связи</a:t>
            </a:r>
            <a:endParaRPr lang="ru-RU" sz="1100" dirty="0">
              <a:solidFill>
                <a:srgbClr val="144192"/>
              </a:solidFill>
              <a:latin typeface="Onest" pitchFamily="2" charset="0"/>
            </a:endParaRPr>
          </a:p>
        </p:txBody>
      </p:sp>
      <p:sp>
        <p:nvSpPr>
          <p:cNvPr id="52" name="Text 5"/>
          <p:cNvSpPr/>
          <p:nvPr/>
        </p:nvSpPr>
        <p:spPr>
          <a:xfrm>
            <a:off x="5772396" y="2508797"/>
            <a:ext cx="1728000" cy="505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Совместное проведение смен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IT</a:t>
            </a:r>
            <a: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nest" pitchFamily="2" charset="0"/>
              </a:rPr>
              <a:t>-направленности</a:t>
            </a:r>
            <a:endParaRPr lang="ru-RU" sz="900" b="0" u="none" strike="noStrike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Onest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646" y="1169315"/>
            <a:ext cx="654460" cy="654460"/>
          </a:xfrm>
          <a:prstGeom prst="rect">
            <a:avLst/>
          </a:prstGeom>
        </p:spPr>
      </p:pic>
      <p:pic>
        <p:nvPicPr>
          <p:cNvPr id="6146" name="Picture 2" descr="Министерство цифрового развития, связи и массовых коммуникаций Российской  Федерации — Википедия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056" y="1130835"/>
            <a:ext cx="612680" cy="68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 5"/>
          <p:cNvSpPr/>
          <p:nvPr/>
        </p:nvSpPr>
        <p:spPr>
          <a:xfrm>
            <a:off x="640080" y="3321095"/>
            <a:ext cx="7863480" cy="1627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1400" b="1" u="none" strike="noStrike" dirty="0">
                <a:solidFill>
                  <a:srgbClr val="144192"/>
                </a:solidFill>
                <a:uFillTx/>
                <a:latin typeface="Onest" pitchFamily="2" charset="0"/>
                <a:ea typeface="Calibri"/>
              </a:rPr>
              <a:t>Выстроено успешное межведомственное взаимодействие при организации интенсивных профильных смен и мероприятий Центра «Ключевский»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endParaRPr lang="ru-RU" sz="1400" b="1" dirty="0">
              <a:solidFill>
                <a:srgbClr val="FFC000"/>
              </a:solidFill>
              <a:latin typeface="Onest" pitchFamily="2" charset="0"/>
            </a:endParaRP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endParaRPr lang="ru-RU" sz="1400" u="none" strike="noStrike" dirty="0">
              <a:solidFill>
                <a:srgbClr val="FFC000"/>
              </a:solidFill>
              <a:uFillTx/>
              <a:latin typeface="One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89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40080" y="849853"/>
            <a:ext cx="1828440" cy="36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40079" y="1086522"/>
            <a:ext cx="1943639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Внедрение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AI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2724840" y="1086522"/>
            <a:ext cx="1874160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72484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Муниципалитеты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809600" y="1086522"/>
            <a:ext cx="1874160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809600" y="1217841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1" u="none" strike="noStrike" dirty="0">
                <a:solidFill>
                  <a:schemeClr val="bg1">
                    <a:lumMod val="95000"/>
                  </a:schemeClr>
                </a:solidFill>
                <a:uFillTx/>
                <a:latin typeface="Onest" pitchFamily="2" charset="0"/>
                <a:ea typeface="Trebuchet MS"/>
              </a:rPr>
              <a:t>Мероприятия</a:t>
            </a:r>
            <a:endParaRPr lang="ru-RU" sz="1400" b="0" u="none" strike="noStrike" dirty="0">
              <a:solidFill>
                <a:schemeClr val="bg1">
                  <a:lumMod val="95000"/>
                </a:schemeClr>
              </a:solidFill>
              <a:uFillTx/>
              <a:latin typeface="Onest" pitchFamily="2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894720" y="1086522"/>
            <a:ext cx="1874160" cy="1818909"/>
          </a:xfrm>
          <a:prstGeom prst="roundRect">
            <a:avLst>
              <a:gd name="adj" fmla="val 9677"/>
            </a:avLst>
          </a:prstGeom>
          <a:solidFill>
            <a:srgbClr val="14419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Onest" pitchFamily="2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019924" y="1217841"/>
            <a:ext cx="1748955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1400" b="1" dirty="0">
                <a:solidFill>
                  <a:schemeClr val="bg1">
                    <a:lumMod val="95000"/>
                  </a:schemeClr>
                </a:solidFill>
                <a:latin typeface="Onest" pitchFamily="2" charset="0"/>
              </a:rPr>
              <a:t>ОЦ «Сириус»</a:t>
            </a:r>
            <a:endParaRPr lang="ru-RU" sz="1400" dirty="0">
              <a:solidFill>
                <a:schemeClr val="bg1">
                  <a:lumMod val="95000"/>
                </a:schemeClr>
              </a:solidFill>
              <a:latin typeface="Onest" pitchFamily="2" charset="0"/>
            </a:endParaRPr>
          </a:p>
        </p:txBody>
      </p:sp>
      <p:sp>
        <p:nvSpPr>
          <p:cNvPr id="47" name="Text 0"/>
          <p:cNvSpPr/>
          <p:nvPr/>
        </p:nvSpPr>
        <p:spPr>
          <a:xfrm>
            <a:off x="640080" y="320040"/>
            <a:ext cx="8503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400" dirty="0">
                <a:solidFill>
                  <a:srgbClr val="2F5597"/>
                </a:solidFill>
                <a:latin typeface="Onest SemiBold" pitchFamily="2" charset="0"/>
                <a:ea typeface="Trebuchet MS"/>
              </a:rPr>
              <a:t>Предложения о межведомственном взаимодействии</a:t>
            </a:r>
            <a:endParaRPr lang="ru-RU" sz="2400" dirty="0">
              <a:solidFill>
                <a:srgbClr val="2F5597"/>
              </a:solidFill>
              <a:latin typeface="Onest SemiBold" pitchFamily="2" charset="0"/>
            </a:endParaRPr>
          </a:p>
        </p:txBody>
      </p:sp>
      <p:sp>
        <p:nvSpPr>
          <p:cNvPr id="31" name="Text 5"/>
          <p:cNvSpPr/>
          <p:nvPr/>
        </p:nvSpPr>
        <p:spPr>
          <a:xfrm>
            <a:off x="752168" y="1550679"/>
            <a:ext cx="1716352" cy="1148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80" b="0" u="none" strike="noStrike" dirty="0">
                <a:solidFill>
                  <a:schemeClr val="bg1"/>
                </a:solidFill>
                <a:uFillTx/>
                <a:latin typeface="Onest" pitchFamily="2" charset="0"/>
                <a:ea typeface="Calibri"/>
              </a:rPr>
              <a:t>Обучение сотрудников технологиям Искусственного Интеллекта в работе ведомств.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80" dirty="0">
                <a:solidFill>
                  <a:schemeClr val="bg1"/>
                </a:solidFill>
                <a:latin typeface="Onest" pitchFamily="2" charset="0"/>
              </a:rPr>
              <a:t>Автоматизация рутинных процессов для высвобождения времени на созидание, </a:t>
            </a:r>
            <a:br>
              <a:rPr lang="ru-RU" sz="880" dirty="0">
                <a:solidFill>
                  <a:schemeClr val="bg1"/>
                </a:solidFill>
                <a:latin typeface="Onest" pitchFamily="2" charset="0"/>
              </a:rPr>
            </a:br>
            <a:r>
              <a:rPr lang="ru-RU" sz="880" dirty="0">
                <a:solidFill>
                  <a:schemeClr val="bg1"/>
                </a:solidFill>
                <a:latin typeface="Onest" pitchFamily="2" charset="0"/>
              </a:rPr>
              <a:t>совместное творчество.</a:t>
            </a:r>
            <a:endParaRPr lang="ru-RU" sz="880" b="0" u="none" strike="noStrike" dirty="0">
              <a:solidFill>
                <a:schemeClr val="bg1"/>
              </a:solidFill>
              <a:uFillTx/>
              <a:latin typeface="Onest" pitchFamily="2" charset="0"/>
            </a:endParaRPr>
          </a:p>
        </p:txBody>
      </p:sp>
      <p:sp>
        <p:nvSpPr>
          <p:cNvPr id="32" name="Text 5"/>
          <p:cNvSpPr/>
          <p:nvPr/>
        </p:nvSpPr>
        <p:spPr>
          <a:xfrm>
            <a:off x="2724840" y="1550679"/>
            <a:ext cx="1873800" cy="1091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chemeClr val="bg1"/>
                </a:solidFill>
                <a:uFillTx/>
                <a:latin typeface="Onest" pitchFamily="2" charset="0"/>
                <a:ea typeface="Calibri"/>
              </a:rPr>
              <a:t>Выявление и поддержка талантливых детей в районах Пензенской области. 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dirty="0">
                <a:solidFill>
                  <a:schemeClr val="bg1"/>
                </a:solidFill>
                <a:latin typeface="Onest" pitchFamily="2" charset="0"/>
              </a:rPr>
              <a:t>Медиа-освещение на региональных ТВ-каналах, выделение грантов, </a:t>
            </a:r>
            <a:br>
              <a:rPr lang="ru-RU" sz="900" dirty="0">
                <a:solidFill>
                  <a:schemeClr val="bg1"/>
                </a:solidFill>
                <a:latin typeface="Onest" pitchFamily="2" charset="0"/>
              </a:rPr>
            </a:br>
            <a:r>
              <a:rPr lang="ru-RU" sz="900" dirty="0">
                <a:solidFill>
                  <a:schemeClr val="bg1"/>
                </a:solidFill>
                <a:latin typeface="Onest" pitchFamily="2" charset="0"/>
              </a:rPr>
              <a:t>организация мероприятий</a:t>
            </a:r>
            <a:endParaRPr lang="ru-RU" sz="900" b="0" u="none" strike="noStrike" dirty="0">
              <a:solidFill>
                <a:schemeClr val="bg1"/>
              </a:solidFill>
              <a:uFillTx/>
              <a:latin typeface="Onest" pitchFamily="2" charset="0"/>
            </a:endParaRPr>
          </a:p>
        </p:txBody>
      </p:sp>
      <p:sp>
        <p:nvSpPr>
          <p:cNvPr id="33" name="Text 5"/>
          <p:cNvSpPr/>
          <p:nvPr/>
        </p:nvSpPr>
        <p:spPr>
          <a:xfrm>
            <a:off x="4866277" y="1643290"/>
            <a:ext cx="1760806" cy="11310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90" dirty="0">
                <a:solidFill>
                  <a:schemeClr val="bg1"/>
                </a:solidFill>
                <a:latin typeface="Onest" pitchFamily="2" charset="0"/>
              </a:rPr>
              <a:t>Проведение фестивалей науки в районах Пензенской области.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890" dirty="0">
                <a:solidFill>
                  <a:schemeClr val="bg1"/>
                </a:solidFill>
                <a:latin typeface="Onest" pitchFamily="2" charset="0"/>
              </a:rPr>
              <a:t>Привлечение индустриальных и академических партнеров к мероприятиям, которые будут затрагивать широкие межведомственные вопросы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endParaRPr lang="ru-RU" sz="890" dirty="0">
              <a:solidFill>
                <a:schemeClr val="bg1"/>
              </a:solidFill>
              <a:latin typeface="Onest" pitchFamily="2" charset="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6964559" y="1550679"/>
            <a:ext cx="1751738" cy="11998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b="0" u="none" strike="noStrike" dirty="0">
                <a:solidFill>
                  <a:schemeClr val="bg1"/>
                </a:solidFill>
                <a:uFillTx/>
                <a:latin typeface="Onest" pitchFamily="2" charset="0"/>
                <a:ea typeface="Calibri"/>
              </a:rPr>
              <a:t>Привлечение методистов ОЦ «Сириус» и специалистов фонда «Талант и успех» к </a:t>
            </a:r>
            <a:r>
              <a:rPr lang="ru-RU" sz="900" b="0" u="none" strike="noStrike" dirty="0" err="1">
                <a:solidFill>
                  <a:schemeClr val="bg1"/>
                </a:solidFill>
                <a:uFillTx/>
                <a:latin typeface="Onest" pitchFamily="2" charset="0"/>
                <a:ea typeface="Calibri"/>
              </a:rPr>
              <a:t>сопрвождению</a:t>
            </a:r>
            <a:r>
              <a:rPr lang="ru-RU" sz="900" b="0" u="none" strike="noStrike" dirty="0">
                <a:solidFill>
                  <a:schemeClr val="bg1"/>
                </a:solidFill>
                <a:uFillTx/>
                <a:latin typeface="Onest" pitchFamily="2" charset="0"/>
                <a:ea typeface="Calibri"/>
              </a:rPr>
              <a:t> мероприятий.</a:t>
            </a:r>
          </a:p>
          <a:p>
            <a:pPr algn="ctr" defTabSz="914400">
              <a:lnSpc>
                <a:spcPct val="11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ru-RU" sz="900" dirty="0">
                <a:solidFill>
                  <a:schemeClr val="bg1"/>
                </a:solidFill>
                <a:latin typeface="Onest" pitchFamily="2" charset="0"/>
              </a:rPr>
              <a:t>Внесение инициатив в Национальные проекты РФ, </a:t>
            </a:r>
            <a:br>
              <a:rPr lang="ru-RU" sz="900" dirty="0">
                <a:solidFill>
                  <a:schemeClr val="bg1"/>
                </a:solidFill>
                <a:latin typeface="Onest" pitchFamily="2" charset="0"/>
              </a:rPr>
            </a:br>
            <a:r>
              <a:rPr lang="ru-RU" sz="900" dirty="0">
                <a:solidFill>
                  <a:schemeClr val="bg1"/>
                </a:solidFill>
                <a:latin typeface="Onest" pitchFamily="2" charset="0"/>
              </a:rPr>
              <a:t>их реализация в регионе</a:t>
            </a:r>
            <a:endParaRPr lang="ru-RU" sz="900" b="0" u="none" strike="noStrike" dirty="0">
              <a:solidFill>
                <a:schemeClr val="bg1"/>
              </a:solidFill>
              <a:uFillTx/>
              <a:latin typeface="Onest" pitchFamily="2" charset="0"/>
            </a:endParaRPr>
          </a:p>
        </p:txBody>
      </p:sp>
      <p:pic>
        <p:nvPicPr>
          <p:cNvPr id="7170" name="Picture 2" descr="https://sun9-51.vkuserphoto.ru/s/v1/ig2/CVQVAdRgzZPBxduftlOUT6LJb7HNw_TA6nmgt_XV1NwRBDfkqnmKyZKewqtaEL3kTlId1gC0ngZhJtDPYXGOrpha.jpg?quality=95&amp;as=32x21,48x32,72x48,108x73,160x107,240x161,360x242,480x322,540x363,640x430,720x484,1080x726,1280x860,1440x967,1920x1290&amp;from=bu&amp;u=ZHqpraKMM7oQXNkaZ5mIPttngfeyuTS1QMOYKKmJSrk&amp;cs=1920x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09950"/>
            <a:ext cx="1781175" cy="1196727"/>
          </a:xfrm>
          <a:prstGeom prst="roundRect">
            <a:avLst>
              <a:gd name="adj" fmla="val 791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sun9-45.vkuserphoto.ru/s/v1/ig2/uSKAANStLG3NkR65uDpKqD0-GYgjnAHw5ky43wShWz_QYcS9oOcnlR63fmZP5Zd2Fb1W-NOtimuDAUnA_ynOYToB.jpg?quality=95&amp;as=32x21,48x32,72x48,108x72,160x107,240x160,360x240,480x320,540x360,640x426,720x480,1080x720,1280x853,1440x960,2560x1706&amp;from=bu&amp;u=-loMEP5kjkUdJWLE-8z6U-9vZoRdeLEHhbxp4Xv_NQ8&amp;cs=2560x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559" y="3400425"/>
            <a:ext cx="1805441" cy="1203157"/>
          </a:xfrm>
          <a:prstGeom prst="roundRect">
            <a:avLst>
              <a:gd name="adj" fmla="val 795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s://sun9-47.vkuserphoto.ru/s/v1/ig2/TimUAiTQabaT1r9EpoFCbnqzRZ1zHBwXO8m7x3ggKaeAoXa9cRXcKzgpNUqs1DlWBJuo8tECYwt_PcpGFNVSKmii.jpg?quality=95&amp;as=32x21,48x32,72x48,108x72,160x107,240x160,360x240,480x320,540x360,640x427,720x481,1080x721,1280x854,1440x961,2560x1709&amp;from=bu&amp;cs=2560x0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7"/>
          <a:stretch/>
        </p:blipFill>
        <p:spPr bwMode="auto">
          <a:xfrm>
            <a:off x="5571508" y="3400425"/>
            <a:ext cx="1714370" cy="1203157"/>
          </a:xfrm>
          <a:prstGeom prst="roundRect">
            <a:avLst>
              <a:gd name="adj" fmla="val 1112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ttps://sun9-61.vkuserphoto.ru/s/v1/ig2/xtbP3taNrtTXyM4oigkR3svRRmCHmRP7Dg3_9ZmQSpuamhXl1VI9upASRF3rJYxTZgnKGTJvYmqIKvNRFvbKEzjt.jpg?quality=95&amp;as=32x21,48x32,72x48,108x72,160x107,240x160,360x240,480x320,540x360,640x427,720x480,1080x720,1280x853,1440x960,2560x1707&amp;from=bu&amp;cs=2560x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384" y="3400425"/>
            <a:ext cx="1794740" cy="1196727"/>
          </a:xfrm>
          <a:prstGeom prst="roundRect">
            <a:avLst>
              <a:gd name="adj" fmla="val 103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https://sun9-29.vkuserphoto.ru/s/v1/ig2/OK_XAGATc7cEVMtxH1L0EdoRE5BJbOL4LKUZGkOOeGznPWjaoY-omUygYjNhIiAuoh5vi421lScWTOBmVXWBCkbC.jpg?quality=95&amp;as=32x21,48x32,72x48,108x72,160x107,240x160,360x240,480x320,540x360,640x427,720x480,1080x720,1280x853,1440x960,2560x1707&amp;from=bu&amp;cs=2560x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260" y="3400425"/>
            <a:ext cx="1794739" cy="1196727"/>
          </a:xfrm>
          <a:prstGeom prst="roundRect">
            <a:avLst>
              <a:gd name="adj" fmla="val 870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https://sun9-51.vkuserphoto.ru/s/v1/ig2/CVQVAdRgzZPBxduftlOUT6LJb7HNw_TA6nmgt_XV1NwRBDfkqnmKyZKewqtaEL3kTlId1gC0ngZhJtDPYXGOrpha.jpg?quality=95&amp;as=32x21,48x32,72x48,108x73,160x107,240x161,360x242,480x322,540x363,640x430,720x484,1080x726,1280x860,1440x967,1920x1290&amp;from=bu&amp;u=ZHqpraKMM7oQXNkaZ5mIPttngfeyuTS1QMOYKKmJSrk&amp;cs=1920x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935"/>
          <a:stretch/>
        </p:blipFill>
        <p:spPr bwMode="auto">
          <a:xfrm>
            <a:off x="-6781" y="3406855"/>
            <a:ext cx="1016432" cy="119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https://sun9-29.vkuserphoto.ru/s/v1/ig2/OK_XAGATc7cEVMtxH1L0EdoRE5BJbOL4LKUZGkOOeGznPWjaoY-omUygYjNhIiAuoh5vi421lScWTOBmVXWBCkbC.jpg?quality=95&amp;as=32x21,48x32,72x48,108x72,160x107,240x160,360x240,480x320,540x360,640x427,720x480,1080x720,1280x853,1440x960,2560x1707&amp;from=bu&amp;cs=2560x0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8"/>
          <a:stretch/>
        </p:blipFill>
        <p:spPr bwMode="auto">
          <a:xfrm>
            <a:off x="8324850" y="3400424"/>
            <a:ext cx="819148" cy="119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40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1075</Words>
  <Application>Microsoft Office PowerPoint</Application>
  <PresentationFormat>Экран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Onest Light</vt:lpstr>
      <vt:lpstr>Symbol</vt:lpstr>
      <vt:lpstr>Calibri</vt:lpstr>
      <vt:lpstr>Onest</vt:lpstr>
      <vt:lpstr>Onest SemiBold</vt:lpstr>
      <vt:lpstr>Bebas Neue Cyrillic</vt:lpstr>
      <vt:lpstr>Arial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Влада Борисова</cp:lastModifiedBy>
  <cp:revision>43</cp:revision>
  <dcterms:created xsi:type="dcterms:W3CDTF">2026-04-10T08:27:32Z</dcterms:created>
  <dcterms:modified xsi:type="dcterms:W3CDTF">2026-09-22T10:06:52Z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(16:9)</vt:lpwstr>
  </property>
  <property fmtid="{D5CDD505-2E9C-101B-9397-08002B2CF9AE}" pid="4" name="Slides">
    <vt:i4>2</vt:i4>
  </property>
</Properties>
</file>